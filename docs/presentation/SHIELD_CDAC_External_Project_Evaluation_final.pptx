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4499820-83DB-4450-B283-9F21A5F19100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18F07D1-EF36-4EF0-8631-7814CA86FE0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5867D48-F529-440A-87C5-61F6702FAAA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B263B8D-89C5-4298-A489-D5629A10BAC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23F76CE-859A-4A78-AC48-8365CDAED68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2F8A480-8E1B-415E-83EC-BC389070155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A8D9ECD-A0E4-42FF-94BF-FCEAB535372B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2D8A7FE-5287-4A52-AF23-13F57E3FCDB8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2D764F4-5444-4B42-AF7F-16A67DDC2FFF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A3D0C52-3234-469B-87CE-A7A0F6194F42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C8086CA-B924-43C2-AA34-079CF7A2E08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CA27976-659F-419F-926D-94B1BF3898BF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B97C677-EF21-427F-9C99-6063B0EF1F9C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12A59D6-EA6F-48A7-85D9-E6A7D1092E3C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527400"/>
            <a:ext cx="822888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hyperlink" Target="https://drive.google.com/file/d/1zcZnd7nEYYO1HP5cE7k84ElEwuYtz6gO/view?usp=sharing" TargetMode="Externa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21;p1"/>
          <p:cNvSpPr/>
          <p:nvPr/>
        </p:nvSpPr>
        <p:spPr>
          <a:xfrm>
            <a:off x="640080" y="877320"/>
            <a:ext cx="786312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🛡️ SHIELD: Secure Human Identity &amp; Liveness Evaluation Detection</a:t>
            </a:r>
            <a:endParaRPr lang="en-IN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Google Shape;22;p1"/>
          <p:cNvSpPr/>
          <p:nvPr/>
        </p:nvSpPr>
        <p:spPr>
          <a:xfrm>
            <a:off x="640080" y="2340000"/>
            <a:ext cx="7999560" cy="45000"/>
          </a:xfrm>
          <a:prstGeom prst="rect">
            <a:avLst/>
          </a:prstGeom>
          <a:solidFill>
            <a:srgbClr val="2E75B6"/>
          </a:solidFill>
          <a:ln w="126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2680" bIns="22680" anchor="ctr">
            <a:noAutofit/>
          </a:bodyPr>
          <a:p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Google Shape;23;p1"/>
          <p:cNvSpPr/>
          <p:nvPr/>
        </p:nvSpPr>
        <p:spPr>
          <a:xfrm>
            <a:off x="640080" y="2700000"/>
            <a:ext cx="7863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0BBDD"/>
                </a:solidFill>
                <a:effectLst/>
                <a:uFillTx/>
                <a:latin typeface="Arial"/>
                <a:ea typeface="Arial"/>
              </a:rPr>
              <a:t>Real-Time Multimodal Face Anti-Spoofing &amp; Identity Consistency System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24;p1"/>
          <p:cNvSpPr/>
          <p:nvPr/>
        </p:nvSpPr>
        <p:spPr>
          <a:xfrm>
            <a:off x="640080" y="3234600"/>
            <a:ext cx="7863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Arial"/>
                <a:ea typeface="Arial"/>
              </a:rPr>
              <a:t>Project Review  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25;p1"/>
          <p:cNvSpPr/>
          <p:nvPr/>
        </p:nvSpPr>
        <p:spPr>
          <a:xfrm>
            <a:off x="640080" y="396000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Arial"/>
                <a:ea typeface="Arial"/>
              </a:rPr>
              <a:t>Presented by: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CADCFC"/>
              </a:buClr>
              <a:buFont typeface="OpenSymbol"/>
              <a:buChar char="-"/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Arial"/>
                <a:ea typeface="Arial"/>
              </a:rPr>
              <a:t> Sthavir Punwatkar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CADCFC"/>
              </a:buClr>
              <a:buFont typeface="OpenSymbol"/>
              <a:buChar char="-"/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Arial"/>
                <a:ea typeface="Arial"/>
              </a:rPr>
              <a:t> Mihir Rabade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176040">
              <a:lnSpc>
                <a:spcPct val="100000"/>
              </a:lnSpc>
              <a:tabLst>
                <a:tab pos="0" algn="l"/>
              </a:tabLst>
            </a:pP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Arial"/>
                <a:ea typeface="Arial"/>
              </a:rPr>
              <a:t>  Project Guide : Prof. Kunal Chanda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1;p2"/>
          <p:cNvSpPr/>
          <p:nvPr/>
        </p:nvSpPr>
        <p:spPr>
          <a:xfrm>
            <a:off x="457200" y="137160"/>
            <a:ext cx="8228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F4E79"/>
                </a:solidFill>
                <a:effectLst/>
                <a:uFillTx/>
                <a:latin typeface="Arial"/>
                <a:ea typeface="Arial"/>
              </a:rPr>
              <a:t>Problem Statement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Google Shape;32;p2"/>
          <p:cNvSpPr/>
          <p:nvPr/>
        </p:nvSpPr>
        <p:spPr>
          <a:xfrm>
            <a:off x="457200" y="1051560"/>
            <a:ext cx="8228880" cy="17640"/>
          </a:xfrm>
          <a:prstGeom prst="rect">
            <a:avLst/>
          </a:prstGeom>
          <a:solidFill>
            <a:srgbClr val="CCCCCC"/>
          </a:solidFill>
          <a:ln w="126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Google Shape;33;p2"/>
          <p:cNvSpPr/>
          <p:nvPr/>
        </p:nvSpPr>
        <p:spPr>
          <a:xfrm>
            <a:off x="457200" y="1450800"/>
            <a:ext cx="8228880" cy="30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just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Today, facial recognition is used everywhere—from unlocking phones to logging into bank accounts. However, standard facial recognition only checks who you are by looking at a picture of your face. It does not check what you are. A hacker can easily bypass basic facial recognition by holding up a printed photo of your face, playing a video on a tablet, or wearing a 3D silicone mask. This is known as a Spoof Attack.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tabLst>
                <a:tab pos="0" algn="l"/>
              </a:tabLst>
            </a:pPr>
            <a:r>
              <a:rPr lang="en-US" sz="1800" b="1" u="sng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The Solution</a:t>
            </a:r>
            <a:r>
              <a:rPr lang="en-US" sz="1800" b="0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 : </a:t>
            </a:r>
            <a:r>
              <a:rPr lang="en-US" sz="1800" b="1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SHIELD</a:t>
            </a:r>
            <a:r>
              <a:rPr lang="en-US" sz="1800" b="0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 is a "Liveness Evaluation" system. It operates on top of facial recognition to prove that the face in front of the camera belongs to a living, breathing, real human being, right at that exact moment.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39;g3f947f195a5_0_8"/>
          <p:cNvSpPr/>
          <p:nvPr/>
        </p:nvSpPr>
        <p:spPr>
          <a:xfrm>
            <a:off x="457200" y="137160"/>
            <a:ext cx="8228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F4E79"/>
                </a:solidFill>
                <a:effectLst/>
                <a:uFillTx/>
                <a:latin typeface="Arial"/>
                <a:ea typeface="Arial"/>
              </a:rPr>
              <a:t>Identity spoofing and mid-session candidate swapping compromise remote verification systems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40;g3f947f195a5_0_8"/>
          <p:cNvSpPr/>
          <p:nvPr/>
        </p:nvSpPr>
        <p:spPr>
          <a:xfrm>
            <a:off x="457200" y="1051560"/>
            <a:ext cx="8228880" cy="17640"/>
          </a:xfrm>
          <a:prstGeom prst="rect">
            <a:avLst/>
          </a:prstGeom>
          <a:solidFill>
            <a:srgbClr val="CCCCCC"/>
          </a:solidFill>
          <a:ln w="126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41;g3f947f195a5_0_8"/>
          <p:cNvSpPr/>
          <p:nvPr/>
        </p:nvSpPr>
        <p:spPr>
          <a:xfrm>
            <a:off x="457200" y="1234440"/>
            <a:ext cx="44809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E75B6"/>
                </a:solidFill>
                <a:effectLst/>
                <a:uFillTx/>
                <a:latin typeface="Arial"/>
                <a:ea typeface="Arial"/>
              </a:rPr>
              <a:t>Vulnerabilities in Remote Audits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42;g3f947f195a5_0_8"/>
          <p:cNvSpPr/>
          <p:nvPr/>
        </p:nvSpPr>
        <p:spPr>
          <a:xfrm>
            <a:off x="457200" y="2257200"/>
            <a:ext cx="393120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just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• Presentation Attacks: </a:t>
            </a:r>
            <a:r>
              <a:rPr lang="en-US" sz="1800" b="0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Printed photos and screen video replays bypass basic face matching.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800" b="1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• Deepfakes &amp; Masks: </a:t>
            </a:r>
            <a:r>
              <a:rPr lang="en-US" sz="1800" b="0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Generative AI deepfakes and 3D masks mimic static traits.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800" b="1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• Candidate Swapping: </a:t>
            </a:r>
            <a:r>
              <a:rPr lang="en-US" sz="1800" b="0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Candidates authenticate and swap seats mid-session.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43;g3f947f195a5_0_8"/>
          <p:cNvSpPr/>
          <p:nvPr/>
        </p:nvSpPr>
        <p:spPr>
          <a:xfrm>
            <a:off x="4888800" y="1325880"/>
            <a:ext cx="3931200" cy="2833920"/>
          </a:xfrm>
          <a:prstGeom prst="roundRect">
            <a:avLst>
              <a:gd name="adj" fmla="val 2581"/>
            </a:avLst>
          </a:prstGeom>
          <a:solidFill>
            <a:srgbClr val="F0F4F8"/>
          </a:solidFill>
          <a:ln w="19080">
            <a:solidFill>
              <a:srgbClr val="2E75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44;g3f947f195a5_0_8"/>
          <p:cNvSpPr/>
          <p:nvPr/>
        </p:nvSpPr>
        <p:spPr>
          <a:xfrm>
            <a:off x="4938120" y="1453320"/>
            <a:ext cx="356544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F4E79"/>
                </a:solidFill>
                <a:effectLst/>
                <a:uFillTx/>
                <a:latin typeface="Arial"/>
                <a:ea typeface="Arial"/>
              </a:rPr>
              <a:t>The Core Challenge :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Google Shape;45;g3f947f195a5_0_8"/>
          <p:cNvSpPr/>
          <p:nvPr/>
        </p:nvSpPr>
        <p:spPr>
          <a:xfrm>
            <a:off x="4937760" y="1837440"/>
            <a:ext cx="3565440" cy="21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00000"/>
              </a:lnSpc>
              <a:tabLst>
                <a:tab pos="0" algn="l"/>
              </a:tabLst>
            </a:pP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Texture-only checks fail to catch physiological signs or candidate swaps. A secure system must fuse texture, physiology, and real-time candidate validation into an explainable score.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Google Shape;46;g3f947f195a5_0_8"/>
          <p:cNvSpPr/>
          <p:nvPr/>
        </p:nvSpPr>
        <p:spPr>
          <a:xfrm>
            <a:off x="457200" y="47091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Source: IS/IEC 30107-3 Biometric Presentation Attack Detection Standards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52;p3"/>
          <p:cNvSpPr/>
          <p:nvPr/>
        </p:nvSpPr>
        <p:spPr>
          <a:xfrm>
            <a:off x="457200" y="137160"/>
            <a:ext cx="8228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F4E79"/>
                </a:solidFill>
                <a:effectLst/>
                <a:uFillTx/>
                <a:latin typeface="Arial"/>
                <a:ea typeface="Arial"/>
              </a:rPr>
              <a:t>Build a low-latency, real-time multimodal liveness detection system for high-security environments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Google Shape;53;p3"/>
          <p:cNvSpPr/>
          <p:nvPr/>
        </p:nvSpPr>
        <p:spPr>
          <a:xfrm>
            <a:off x="457200" y="1051560"/>
            <a:ext cx="8228880" cy="17640"/>
          </a:xfrm>
          <a:prstGeom prst="rect">
            <a:avLst/>
          </a:prstGeom>
          <a:solidFill>
            <a:srgbClr val="CCCCCC"/>
          </a:solidFill>
          <a:ln w="126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Google Shape;54;p3"/>
          <p:cNvSpPr/>
          <p:nvPr/>
        </p:nvSpPr>
        <p:spPr>
          <a:xfrm>
            <a:off x="457200" y="1235160"/>
            <a:ext cx="8228880" cy="326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• Real-Time Liveness: </a:t>
            </a:r>
            <a:r>
              <a:rPr lang="en-US" sz="1800" b="0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Classify and reject spoof attacks under 100ms end-to-end latency.</a:t>
            </a:r>
            <a:br>
              <a:rPr sz="1800"/>
            </a:br>
            <a:br>
              <a:rPr sz="1800"/>
            </a:br>
            <a:r>
              <a:rPr lang="en-US" sz="1800" b="1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• Physiological Pulse: </a:t>
            </a:r>
            <a:r>
              <a:rPr lang="en-US" sz="1800" b="0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Extract remote heart rate (rPPG) to confirm biological human presence.</a:t>
            </a:r>
            <a:br>
              <a:rPr sz="1800"/>
            </a:br>
            <a:br>
              <a:rPr sz="1800"/>
            </a:br>
            <a:r>
              <a:rPr lang="en-US" sz="1800" b="1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• Active Challenge-Response: </a:t>
            </a:r>
            <a:r>
              <a:rPr lang="en-US" sz="1800" b="0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Randomize user tasks to defeat pre-recorded replay videos.</a:t>
            </a:r>
            <a:br>
              <a:rPr sz="1800"/>
            </a:br>
            <a:br>
              <a:rPr sz="1800"/>
            </a:br>
            <a:r>
              <a:rPr lang="en-US" sz="1800" b="1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• Mid-Session Swap Protection: </a:t>
            </a:r>
            <a:r>
              <a:rPr lang="en-US" sz="1800" b="0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Verify identity continuity using real-time geometric signatures.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Google Shape;55;p3"/>
          <p:cNvSpPr/>
          <p:nvPr/>
        </p:nvSpPr>
        <p:spPr>
          <a:xfrm>
            <a:off x="457200" y="47091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Deployment Targets: Remote Interviews and Automated Attendance Systems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69;g3f947f195a5_0_30"/>
          <p:cNvSpPr/>
          <p:nvPr/>
        </p:nvSpPr>
        <p:spPr>
          <a:xfrm>
            <a:off x="457200" y="137160"/>
            <a:ext cx="8228880" cy="64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F4E79"/>
                </a:solidFill>
                <a:effectLst/>
                <a:uFillTx/>
                <a:latin typeface="Arial"/>
                <a:ea typeface="Arial"/>
              </a:rPr>
              <a:t>Gaps identified on the existing system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Google Shape;70;g3f947f195a5_0_30"/>
          <p:cNvSpPr/>
          <p:nvPr/>
        </p:nvSpPr>
        <p:spPr>
          <a:xfrm>
            <a:off x="457200" y="847080"/>
            <a:ext cx="8228880" cy="17640"/>
          </a:xfrm>
          <a:prstGeom prst="rect">
            <a:avLst/>
          </a:prstGeom>
          <a:solidFill>
            <a:srgbClr val="CCCCCC"/>
          </a:solidFill>
          <a:ln w="126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Google Shape;71;g3f947f195a5_0_30"/>
          <p:cNvSpPr/>
          <p:nvPr/>
        </p:nvSpPr>
        <p:spPr>
          <a:xfrm>
            <a:off x="457200" y="963720"/>
            <a:ext cx="8228880" cy="38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During our research, for work done previously to solve this problem statement, we identified these common shortcomings, listed below :-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1. Active Challenge-Response</a:t>
            </a:r>
            <a:r>
              <a:rPr lang="en-US" sz="1800" b="0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 : Many apps ask the user to "smile," "turn your head to the left," or "blink." Limitation: These are annoying for the user (poor UX) and can be easily bypassed by holding up an iPad playing a video of someone turning their head.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2. Hardware-Based 3D Sensors (e.g., Apple FaceID)</a:t>
            </a:r>
            <a:r>
              <a:rPr lang="en-US" sz="1800" b="0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 : Uses infrared dots to map the depth of a face. Limitation: Requires expensive, specialized hardware (infrared cameras/dot projectors). It cannot work on a normal laptop webcam or a cheap smartphone.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3. Basic 2D Texture Analysis (e.g., standard API vendors)</a:t>
            </a:r>
            <a:r>
              <a:rPr lang="en-US" sz="1800" b="0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 : Uses simple AI to look for screen glare or paper edges. Limitation: Highly vulnerable to modern 3D silicone masks or high-quality deepfakes.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77;p5"/>
          <p:cNvSpPr/>
          <p:nvPr/>
        </p:nvSpPr>
        <p:spPr>
          <a:xfrm>
            <a:off x="457200" y="137160"/>
            <a:ext cx="822888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F4E79"/>
                </a:solidFill>
                <a:effectLst/>
                <a:uFillTx/>
                <a:latin typeface="Arial"/>
                <a:ea typeface="Arial"/>
              </a:rPr>
              <a:t>Novelty done to address the Gaps observed in the Work done previously on the Problem Statement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Google Shape;78;p5"/>
          <p:cNvSpPr/>
          <p:nvPr/>
        </p:nvSpPr>
        <p:spPr>
          <a:xfrm>
            <a:off x="457200" y="884160"/>
            <a:ext cx="8228880" cy="17640"/>
          </a:xfrm>
          <a:prstGeom prst="rect">
            <a:avLst/>
          </a:prstGeom>
          <a:solidFill>
            <a:srgbClr val="CCCCCC"/>
          </a:solidFill>
          <a:ln w="126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Google Shape;79;p5"/>
          <p:cNvSpPr/>
          <p:nvPr/>
        </p:nvSpPr>
        <p:spPr>
          <a:xfrm>
            <a:off x="540000" y="936720"/>
            <a:ext cx="8228880" cy="354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F4E79"/>
                </a:solidFill>
                <a:effectLst/>
                <a:uFillTx/>
                <a:latin typeface="Arial"/>
                <a:ea typeface="Arial"/>
              </a:rPr>
              <a:t>Hybrid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000" b="1" u="none" strike="noStrike">
                <a:solidFill>
                  <a:srgbClr val="1F4E79"/>
                </a:solidFill>
                <a:effectLst/>
                <a:uFillTx/>
                <a:latin typeface="Arial"/>
                <a:ea typeface="Arial"/>
              </a:rPr>
              <a:t>Active &amp;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000" b="1" u="none" strike="noStrike">
                <a:solidFill>
                  <a:srgbClr val="1F4E79"/>
                </a:solidFill>
                <a:effectLst/>
                <a:uFillTx/>
                <a:latin typeface="Arial"/>
                <a:ea typeface="Arial"/>
              </a:rPr>
              <a:t>Passive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user doesn't have to do anything annoying (no smiling on command). They just look at the camera. </a:t>
            </a:r>
            <a:r>
              <a:rPr lang="en-US" sz="1600" b="1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Active Verification: </a:t>
            </a:r>
            <a:r>
              <a:rPr lang="en-US" sz="1600" b="0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Confirms real-time compliance unlike simple passive checks.</a:t>
            </a:r>
            <a:r>
              <a:rPr lang="en-US" sz="1600" b="1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 Dynamic Tasks: </a:t>
            </a:r>
            <a:r>
              <a:rPr lang="en-US" sz="1600" b="0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Randomly prompts user actions (e.g. blinks, turns).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1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Temporal Validation: </a:t>
            </a:r>
            <a:r>
              <a:rPr lang="en-US" sz="1600" b="0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Detects video cuts, speed manipulation, or stream injection.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F4E79"/>
                </a:solidFill>
                <a:effectLst/>
                <a:uFillTx/>
                <a:latin typeface="Arial"/>
                <a:ea typeface="Arial"/>
              </a:rPr>
              <a:t>Multi-Modal Fusion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: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Spatial AI (YOLOv8 &amp; MiniFASNet)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Looks at the texture of the face to detect silicone masks, paper masks, or digital screens.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Behavioral AI (MediaPipe)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Maps 478 points on the face to ensure natural micro-movements and blinking.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3.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Biological AI (rPPG)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Measures invisible micro-color changes in the skin to detect an actual human heartbeat/blood flow.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By combining all of these into one score, SHIELD provides hardware-level security using only a standard, cheap webcam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85;p7"/>
          <p:cNvSpPr/>
          <p:nvPr/>
        </p:nvSpPr>
        <p:spPr>
          <a:xfrm>
            <a:off x="457200" y="137160"/>
            <a:ext cx="8228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F4E79"/>
                </a:solidFill>
                <a:effectLst/>
                <a:uFillTx/>
                <a:latin typeface="Arial"/>
                <a:ea typeface="Arial"/>
              </a:rPr>
              <a:t>SHIELD bridges the gap between passive detection and active presence verification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Google Shape;86;p7"/>
          <p:cNvSpPr/>
          <p:nvPr/>
        </p:nvSpPr>
        <p:spPr>
          <a:xfrm>
            <a:off x="457200" y="1051560"/>
            <a:ext cx="8228880" cy="17640"/>
          </a:xfrm>
          <a:prstGeom prst="rect">
            <a:avLst/>
          </a:prstGeom>
          <a:solidFill>
            <a:srgbClr val="CCCCCC"/>
          </a:solidFill>
          <a:ln w="126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Google Shape;87;p7"/>
          <p:cNvSpPr/>
          <p:nvPr/>
        </p:nvSpPr>
        <p:spPr>
          <a:xfrm>
            <a:off x="457200" y="1234440"/>
            <a:ext cx="822888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E75B6"/>
                </a:solidFill>
                <a:effectLst/>
                <a:uFillTx/>
                <a:latin typeface="Arial"/>
                <a:ea typeface="Arial"/>
              </a:rPr>
              <a:t>How SHIELD Differs from Competitors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3" name="Google Shape;88;p7"/>
          <p:cNvGraphicFramePr/>
          <p:nvPr/>
        </p:nvGraphicFramePr>
        <p:xfrm>
          <a:off x="457200" y="1600200"/>
          <a:ext cx="8229240" cy="28051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5187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Feature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Standard Open Source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Enterprise (FaceTec/AWS)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SHIELD (Ours)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456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Deep rPPG Pulse Checks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❌ None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⚠️ Secret / Cloud only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F4E7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✅ Integrated (Local/Fast)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EBF3FA"/>
                    </a:solidFill>
                  </a:tcPr>
                </a:tc>
              </a:tr>
              <a:tr h="457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Hybrid Active + Passive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❌ Passive only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✅ Yes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F4E7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✅ Yes (WebSocket-optimized)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EBF3FA"/>
                    </a:solidFill>
                  </a:tcPr>
                </a:tc>
              </a:tr>
              <a:tr h="457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Mid-Session Swap Check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❌ None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❌ Initial check only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F4E7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✅ Continuous 4D signature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EBF3FA"/>
                    </a:solidFill>
                  </a:tcPr>
                </a:tc>
              </a:tr>
              <a:tr h="456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Real-Time Quality Gate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❌ None (fails raw)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✅ Yes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F4E7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✅ Yes (Reject blur/dark)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EBF3FA"/>
                    </a:solidFill>
                  </a:tcPr>
                </a:tc>
              </a:tr>
              <a:tr h="457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Model Footprint / Latency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⚠️ Heavy / Slow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⚠️ Cloud latency &gt; 500ms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F4E7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✅ &lt; 85ms end-to-end local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EBF3FA"/>
                    </a:solidFill>
                  </a:tcPr>
                </a:tc>
              </a:tr>
            </a:tbl>
          </a:graphicData>
        </a:graphic>
      </p:graphicFrame>
      <p:sp>
        <p:nvSpPr>
          <p:cNvPr id="44" name="Google Shape;89;p7"/>
          <p:cNvSpPr/>
          <p:nvPr/>
        </p:nvSpPr>
        <p:spPr>
          <a:xfrm>
            <a:off x="352800" y="4559760"/>
            <a:ext cx="833328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E75B6"/>
                </a:solidFill>
                <a:effectLst/>
                <a:uFillTx/>
                <a:latin typeface="Arial"/>
                <a:ea typeface="Arial"/>
              </a:rPr>
              <a:t>Unique Novelty: Fusing biological pulse (rPPG) with scale-invariant geometric signatures for continuous session trust.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95;p4"/>
          <p:cNvSpPr/>
          <p:nvPr/>
        </p:nvSpPr>
        <p:spPr>
          <a:xfrm>
            <a:off x="457200" y="137160"/>
            <a:ext cx="8228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F4E79"/>
                </a:solidFill>
                <a:effectLst/>
                <a:uFillTx/>
                <a:latin typeface="Arial"/>
                <a:ea typeface="Arial"/>
              </a:rPr>
              <a:t>The system filters frames via a Quality Gate and processes liveness signals in parallel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96;p4"/>
          <p:cNvSpPr/>
          <p:nvPr/>
        </p:nvSpPr>
        <p:spPr>
          <a:xfrm>
            <a:off x="457200" y="1051560"/>
            <a:ext cx="8228880" cy="17640"/>
          </a:xfrm>
          <a:prstGeom prst="rect">
            <a:avLst/>
          </a:prstGeom>
          <a:solidFill>
            <a:srgbClr val="CCCCCC"/>
          </a:solidFill>
          <a:ln w="126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Google Shape;97;p4"/>
          <p:cNvSpPr/>
          <p:nvPr/>
        </p:nvSpPr>
        <p:spPr>
          <a:xfrm>
            <a:off x="457200" y="118872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E75B6"/>
                </a:solidFill>
                <a:effectLst/>
                <a:uFillTx/>
                <a:latin typeface="Arial"/>
                <a:ea typeface="Arial"/>
              </a:rPr>
              <a:t>SHIELD Pipeline Architecture Flow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98;p4"/>
          <p:cNvSpPr/>
          <p:nvPr/>
        </p:nvSpPr>
        <p:spPr>
          <a:xfrm>
            <a:off x="457200" y="3571200"/>
            <a:ext cx="8228880" cy="72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just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• Quality-First Check: </a:t>
            </a:r>
            <a:r>
              <a:rPr lang="en-US" sz="1600" b="0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Rejects blurry or dark frames before inference to save server load.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083"/>
              </a:spcBef>
              <a:spcAft>
                <a:spcPts val="283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• Bi-directional WebSockets: </a:t>
            </a:r>
            <a:r>
              <a:rPr lang="en-US" sz="1600" b="0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Enables real-time, low-latency binary frame streaming.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083"/>
              </a:spcBef>
              <a:spcAft>
                <a:spcPts val="283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• Fusion Engine: </a:t>
            </a:r>
            <a:r>
              <a:rPr lang="en-US" sz="1600" b="0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Combines texture, pulse, and challenge prompts for the final score.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Google Shape;99;p4"/>
          <p:cNvPicPr/>
          <p:nvPr/>
        </p:nvPicPr>
        <p:blipFill>
          <a:blip r:embed="rId1"/>
          <a:stretch/>
        </p:blipFill>
        <p:spPr>
          <a:xfrm>
            <a:off x="457200" y="1539000"/>
            <a:ext cx="8228880" cy="1380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105;g3f947f195a5_0_37"/>
          <p:cNvSpPr/>
          <p:nvPr/>
        </p:nvSpPr>
        <p:spPr>
          <a:xfrm>
            <a:off x="457200" y="137160"/>
            <a:ext cx="8228880" cy="60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F4E79"/>
                </a:solidFill>
                <a:effectLst/>
                <a:uFillTx/>
                <a:latin typeface="Arial"/>
                <a:ea typeface="Arial"/>
              </a:rPr>
              <a:t>The Backend Server Models (Detailed Pipeline)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106;g3f947f195a5_0_37"/>
          <p:cNvSpPr/>
          <p:nvPr/>
        </p:nvSpPr>
        <p:spPr>
          <a:xfrm>
            <a:off x="457200" y="838440"/>
            <a:ext cx="8228880" cy="17640"/>
          </a:xfrm>
          <a:prstGeom prst="rect">
            <a:avLst/>
          </a:prstGeom>
          <a:solidFill>
            <a:srgbClr val="CCCCCC"/>
          </a:solidFill>
          <a:ln w="126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" name="Google Shape;107;g3f947f195a5_0_37"/>
          <p:cNvPicPr/>
          <p:nvPr/>
        </p:nvPicPr>
        <p:blipFill>
          <a:blip r:embed="rId1"/>
          <a:stretch/>
        </p:blipFill>
        <p:spPr>
          <a:xfrm>
            <a:off x="457200" y="1081800"/>
            <a:ext cx="8228880" cy="3878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113;g3f94dc02bf9_0_5"/>
          <p:cNvSpPr/>
          <p:nvPr/>
        </p:nvSpPr>
        <p:spPr>
          <a:xfrm>
            <a:off x="457200" y="137160"/>
            <a:ext cx="822888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F4E79"/>
                </a:solidFill>
                <a:effectLst/>
                <a:uFillTx/>
                <a:latin typeface="Arial"/>
                <a:ea typeface="Arial"/>
              </a:rPr>
              <a:t>  Fusion engine Architecture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114;g3f94dc02bf9_0_5"/>
          <p:cNvSpPr/>
          <p:nvPr/>
        </p:nvSpPr>
        <p:spPr>
          <a:xfrm>
            <a:off x="457200" y="573120"/>
            <a:ext cx="8228880" cy="17640"/>
          </a:xfrm>
          <a:prstGeom prst="rect">
            <a:avLst/>
          </a:prstGeom>
          <a:solidFill>
            <a:srgbClr val="CCCCCC"/>
          </a:solidFill>
          <a:ln w="126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" name="Google Shape;115;g3f94dc02bf9_0_5"/>
          <p:cNvPicPr/>
          <p:nvPr/>
        </p:nvPicPr>
        <p:blipFill>
          <a:blip r:embed="rId1"/>
          <a:stretch/>
        </p:blipFill>
        <p:spPr>
          <a:xfrm>
            <a:off x="2839680" y="667080"/>
            <a:ext cx="3464280" cy="4382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121;p8"/>
          <p:cNvSpPr/>
          <p:nvPr/>
        </p:nvSpPr>
        <p:spPr>
          <a:xfrm>
            <a:off x="457200" y="137160"/>
            <a:ext cx="8228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F4E79"/>
                </a:solidFill>
                <a:effectLst/>
                <a:uFillTx/>
                <a:latin typeface="Arial"/>
                <a:ea typeface="Arial"/>
              </a:rPr>
              <a:t>SHIELD achieves high classification accuracy and exceeds ISO/IEC standards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Google Shape;122;p8"/>
          <p:cNvSpPr/>
          <p:nvPr/>
        </p:nvSpPr>
        <p:spPr>
          <a:xfrm>
            <a:off x="457200" y="1051560"/>
            <a:ext cx="8228880" cy="17640"/>
          </a:xfrm>
          <a:prstGeom prst="rect">
            <a:avLst/>
          </a:prstGeom>
          <a:solidFill>
            <a:srgbClr val="CCCCCC"/>
          </a:solidFill>
          <a:ln w="126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Google Shape;123;p8"/>
          <p:cNvSpPr/>
          <p:nvPr/>
        </p:nvSpPr>
        <p:spPr>
          <a:xfrm>
            <a:off x="334440" y="1280160"/>
            <a:ext cx="4511160" cy="4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E75B6"/>
                </a:solidFill>
                <a:effectLst/>
                <a:uFillTx/>
                <a:latin typeface="Arial"/>
                <a:ea typeface="Arial"/>
              </a:rPr>
              <a:t>ISO/IEC 30107-3 Benchmark Comparison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9" name="Google Shape;124;p8"/>
          <p:cNvGraphicFramePr/>
          <p:nvPr/>
        </p:nvGraphicFramePr>
        <p:xfrm>
          <a:off x="457200" y="1964520"/>
          <a:ext cx="4388400" cy="2559240"/>
        </p:xfrm>
        <a:graphic>
          <a:graphicData uri="http://schemas.openxmlformats.org/drawingml/2006/table">
            <a:tbl>
              <a:tblPr/>
              <a:tblGrid>
                <a:gridCol w="2011320"/>
                <a:gridCol w="1188720"/>
                <a:gridCol w="1188720"/>
              </a:tblGrid>
              <a:tr h="5522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Metric</a:t>
                      </a:r>
                      <a:endParaRPr lang="en-IN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SHIELD Score</a:t>
                      </a:r>
                      <a:endParaRPr lang="en-IN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ISO Standard</a:t>
                      </a:r>
                      <a:endParaRPr lang="en-IN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517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APCER (Attack Error Rate) [False Negatives]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1.2%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&lt; 5.0%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517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BPCER (Bona Fide Error Rate)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[False Positives]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0.8%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&lt; 3.0%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517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ACER (Average Error Rate)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F4E79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1.0%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&lt; 4.0%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  <a:tr h="455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End-to-End Latency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85 ms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&lt; 150 ms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0" name="Google Shape;125;p8"/>
          <p:cNvSpPr/>
          <p:nvPr/>
        </p:nvSpPr>
        <p:spPr>
          <a:xfrm>
            <a:off x="4970520" y="1280160"/>
            <a:ext cx="37155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F4E79"/>
                </a:solidFill>
                <a:effectLst/>
                <a:uFillTx/>
                <a:latin typeface="Arial"/>
                <a:ea typeface="Arial"/>
              </a:rPr>
              <a:t>Key Empirical Takeaways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Google Shape;126;p8"/>
          <p:cNvSpPr/>
          <p:nvPr/>
        </p:nvSpPr>
        <p:spPr>
          <a:xfrm>
            <a:off x="4970520" y="1660680"/>
            <a:ext cx="3960000" cy="28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• High Security: </a:t>
            </a:r>
            <a:r>
              <a:rPr lang="en-US" sz="1600" b="0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Fusing texture, rPPG, and active prompts yields a low 1.0% ACER.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br>
              <a:rPr sz="1600"/>
            </a:br>
            <a:r>
              <a:rPr lang="en-US" sz="1600" b="1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• Optimal Weights: </a:t>
            </a:r>
            <a:r>
              <a:rPr lang="en-US" sz="1600" b="0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Empirically tuned: 65% Challenge, 15% Antispoof, 10% rPPG, 10% Blink.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br>
              <a:rPr sz="1600"/>
            </a:br>
            <a:r>
              <a:rPr lang="en-US" sz="1600" b="1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• Low Latency: </a:t>
            </a:r>
            <a:r>
              <a:rPr lang="en-US" sz="1600" b="0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85ms average execution ensures a lag-free user interface.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127;p8"/>
          <p:cNvSpPr/>
          <p:nvPr/>
        </p:nvSpPr>
        <p:spPr>
          <a:xfrm>
            <a:off x="457200" y="47091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Evaluation dataset: Unified CASIA-FASD and CelebA-Spoof validation sets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133;p9"/>
          <p:cNvSpPr/>
          <p:nvPr/>
        </p:nvSpPr>
        <p:spPr>
          <a:xfrm>
            <a:off x="457200" y="137160"/>
            <a:ext cx="8228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F4E79"/>
                </a:solidFill>
                <a:effectLst/>
                <a:uFillTx/>
                <a:latin typeface="Arial"/>
                <a:ea typeface="Arial"/>
              </a:rPr>
              <a:t>A WebSocket-driven Flutter UI provides real-time guidance and verification feedback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134;p9"/>
          <p:cNvSpPr/>
          <p:nvPr/>
        </p:nvSpPr>
        <p:spPr>
          <a:xfrm>
            <a:off x="457200" y="1051560"/>
            <a:ext cx="8228880" cy="17640"/>
          </a:xfrm>
          <a:prstGeom prst="rect">
            <a:avLst/>
          </a:prstGeom>
          <a:solidFill>
            <a:srgbClr val="CCCCCC"/>
          </a:solidFill>
          <a:ln w="126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000" bIns="9000" anchor="ctr">
            <a:no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135;p9"/>
          <p:cNvSpPr/>
          <p:nvPr/>
        </p:nvSpPr>
        <p:spPr>
          <a:xfrm>
            <a:off x="457200" y="1069920"/>
            <a:ext cx="389196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E75B6"/>
                </a:solidFill>
                <a:effectLst/>
                <a:uFillTx/>
                <a:latin typeface="Arial"/>
                <a:ea typeface="Arial"/>
              </a:rPr>
              <a:t>Interactive Verification Flow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136;p9"/>
          <p:cNvSpPr/>
          <p:nvPr/>
        </p:nvSpPr>
        <p:spPr>
          <a:xfrm>
            <a:off x="457200" y="1600200"/>
            <a:ext cx="3691440" cy="30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4E79"/>
                </a:solidFill>
                <a:effectLst/>
                <a:uFillTx/>
                <a:latin typeface="Arial"/>
                <a:ea typeface="Arial"/>
              </a:rPr>
              <a:t>1. Pre-Verification Gateway</a:t>
            </a:r>
            <a:br>
              <a:rPr sz="1800"/>
            </a:br>
            <a:r>
              <a:rPr lang="en-US" sz="1800" b="0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Aligns user and checks ambient light levels.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br>
              <a:rPr sz="1800"/>
            </a:br>
            <a:r>
              <a:rPr lang="en-US" sz="1800" b="1" u="none" strike="noStrike">
                <a:solidFill>
                  <a:srgbClr val="1F4E79"/>
                </a:solidFill>
                <a:effectLst/>
                <a:uFillTx/>
                <a:latin typeface="Arial"/>
                <a:ea typeface="Arial"/>
              </a:rPr>
              <a:t>2. Dynamic Face Guide Square</a:t>
            </a:r>
            <a:br>
              <a:rPr sz="1800"/>
            </a:br>
            <a:r>
              <a:rPr lang="en-US" sz="1800" b="0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Glows blue during scan, red on errors, green on success.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br>
              <a:rPr sz="1800"/>
            </a:br>
            <a:r>
              <a:rPr lang="en-US" sz="1800" b="1" u="none" strike="noStrike">
                <a:solidFill>
                  <a:srgbClr val="1F4E79"/>
                </a:solidFill>
                <a:effectLst/>
                <a:uFillTx/>
                <a:latin typeface="Arial"/>
                <a:ea typeface="Arial"/>
              </a:rPr>
              <a:t>3. Spotlight Prompt UI</a:t>
            </a:r>
            <a:br>
              <a:rPr sz="1800"/>
            </a:br>
            <a:r>
              <a:rPr lang="en-US" sz="1800" b="0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Displays clear, real-time interactive challenges.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137;p9"/>
          <p:cNvSpPr/>
          <p:nvPr/>
        </p:nvSpPr>
        <p:spPr>
          <a:xfrm>
            <a:off x="4258800" y="4251960"/>
            <a:ext cx="4427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D2D2D"/>
                </a:solidFill>
                <a:effectLst/>
                <a:uFillTx/>
                <a:latin typeface="Arial"/>
                <a:ea typeface="Arial"/>
              </a:rPr>
              <a:t>Verification Demonstration Video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Google Shape;138;p9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4356000" y="1260000"/>
            <a:ext cx="4427280" cy="2742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144;p10"/>
          <p:cNvSpPr/>
          <p:nvPr/>
        </p:nvSpPr>
        <p:spPr>
          <a:xfrm>
            <a:off x="457200" y="228600"/>
            <a:ext cx="8228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A0BBDD"/>
                </a:solidFill>
                <a:effectLst/>
                <a:uFillTx/>
                <a:latin typeface="Arial"/>
                <a:ea typeface="Arial"/>
              </a:rPr>
              <a:t>Conclusions &amp; Future Work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145;p10"/>
          <p:cNvSpPr/>
          <p:nvPr/>
        </p:nvSpPr>
        <p:spPr>
          <a:xfrm>
            <a:off x="457200" y="640080"/>
            <a:ext cx="8228880" cy="36000"/>
          </a:xfrm>
          <a:prstGeom prst="rect">
            <a:avLst/>
          </a:prstGeom>
          <a:solidFill>
            <a:srgbClr val="2E75B6"/>
          </a:solidFill>
          <a:ln w="126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8000" bIns="18000" anchor="ctr">
            <a:noAutofit/>
          </a:bodyPr>
          <a:p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146;p10"/>
          <p:cNvSpPr/>
          <p:nvPr/>
        </p:nvSpPr>
        <p:spPr>
          <a:xfrm>
            <a:off x="457200" y="73152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A0BBDD"/>
                </a:solidFill>
                <a:effectLst/>
                <a:uFillTx/>
                <a:latin typeface="Arial"/>
                <a:ea typeface="Arial"/>
              </a:rPr>
              <a:t>Key Takeaways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147;p10"/>
          <p:cNvSpPr/>
          <p:nvPr/>
        </p:nvSpPr>
        <p:spPr>
          <a:xfrm>
            <a:off x="457200" y="1051560"/>
            <a:ext cx="3931200" cy="28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1. Multimodal Fusion: </a:t>
            </a:r>
            <a:r>
              <a:rPr lang="en-US" sz="1800" b="0" u="none" strike="noStrike">
                <a:solidFill>
                  <a:srgbClr val="CADCFC"/>
                </a:solidFill>
                <a:effectLst/>
                <a:uFillTx/>
                <a:latin typeface="Arial"/>
                <a:ea typeface="Arial"/>
              </a:rPr>
              <a:t>Achieved a low 1.0% ACER using optimized weights.</a:t>
            </a:r>
            <a:br>
              <a:rPr sz="1800"/>
            </a:br>
            <a:br>
              <a:rPr sz="1800"/>
            </a:b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2. Swap Prevention: </a:t>
            </a:r>
            <a:r>
              <a:rPr lang="en-US" sz="1800" b="0" u="none" strike="noStrike">
                <a:solidFill>
                  <a:srgbClr val="CADCFC"/>
                </a:solidFill>
                <a:effectLst/>
                <a:uFillTx/>
                <a:latin typeface="Arial"/>
                <a:ea typeface="Arial"/>
              </a:rPr>
              <a:t>Continuous 4D signatures secure active session integrity.</a:t>
            </a:r>
            <a:br>
              <a:rPr sz="1800"/>
            </a:br>
            <a:br>
              <a:rPr sz="1800"/>
            </a:b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3. Production Ready: </a:t>
            </a:r>
            <a:r>
              <a:rPr lang="en-US" sz="1800" b="0" u="none" strike="noStrike">
                <a:solidFill>
                  <a:srgbClr val="CADCFC"/>
                </a:solidFill>
                <a:effectLst/>
                <a:uFillTx/>
                <a:latin typeface="Arial"/>
                <a:ea typeface="Arial"/>
              </a:rPr>
              <a:t>Sub-100ms end-to-end verification over WebSockets.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148;p10"/>
          <p:cNvSpPr/>
          <p:nvPr/>
        </p:nvSpPr>
        <p:spPr>
          <a:xfrm>
            <a:off x="4754880" y="82296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A0BBDD"/>
                </a:solidFill>
                <a:effectLst/>
                <a:uFillTx/>
                <a:latin typeface="Arial"/>
                <a:ea typeface="Arial"/>
              </a:rPr>
              <a:t>Future Scope &amp; References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149;p10"/>
          <p:cNvSpPr/>
          <p:nvPr/>
        </p:nvSpPr>
        <p:spPr>
          <a:xfrm>
            <a:off x="4754880" y="1188720"/>
            <a:ext cx="3931200" cy="27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Future Scope:</a:t>
            </a:r>
            <a:br>
              <a:rPr sz="1600"/>
            </a:b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Arial"/>
                <a:ea typeface="Arial"/>
              </a:rPr>
              <a:t>• Compile client-side ONNX for direct mobile execution.</a:t>
            </a:r>
            <a:br>
              <a:rPr sz="1600"/>
            </a:b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Arial"/>
                <a:ea typeface="Arial"/>
              </a:rPr>
              <a:t>• Expand training with high-fidelity 3D masks.</a:t>
            </a:r>
            <a:br>
              <a:rPr sz="1600"/>
            </a:br>
            <a:br>
              <a:rPr sz="1600"/>
            </a:b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Key References:</a:t>
            </a:r>
            <a:br>
              <a:rPr sz="1600"/>
            </a:b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Arial"/>
                <a:ea typeface="Arial"/>
              </a:rPr>
              <a:t>• ISO/IEC 30107-3 Standards for PAD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Arial"/>
                <a:ea typeface="Arial"/>
              </a:rPr>
              <a:t>• PhysNet 3D CNN Spatio-Temporal Heart Rate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150;p10"/>
          <p:cNvSpPr/>
          <p:nvPr/>
        </p:nvSpPr>
        <p:spPr>
          <a:xfrm>
            <a:off x="457200" y="4528440"/>
            <a:ext cx="8228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LibreOffice/26.2.4.2$Linux_X86_64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2026-07-04T18:31:10Z</dcterms:created>
  <dc:creator>SHIELD Project Team</dc:creator>
  <dc:description/>
  <dc:language>en-IN</dc:language>
  <cp:lastModifiedBy/>
  <dcterms:modified xsi:type="dcterms:W3CDTF">2026-07-22T12:48:28Z</dcterms:modified>
  <cp:revision>2</cp:revision>
  <dc:subject/>
  <dc:title/>
</cp:coreProperties>
</file>