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</a:t>
            </a:r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E7002AE-5B58-4F46-9A7F-D97DE5882838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34EE6A-F564-4E6D-8516-90AB511F2B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22189C-E8EE-4CC9-9138-4F68DF9217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022975-03F0-42F6-A716-AB78F2DCBA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872ED78-6B65-4715-B878-8FBE67F239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E9B2E5-2C60-49A3-808C-C09D6F76D0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3F4334-36A7-4072-8DE5-239765A716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7BC116-ECFB-45B1-A7B4-08CBBC2FFA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CEB362-C515-49FF-B1F0-1C0DCF395F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54371A-24E4-4F7D-9F0E-0E2642F385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8CCC80-60FA-4D54-A520-E7DE86314E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</a:t>
            </a:r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format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1280160"/>
            <a:ext cx="78634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🛡️ 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SHIELD: 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Secure 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Human 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Identity &amp; 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Liveness 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Evaluatio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n </a:t>
            </a: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Detection</a:t>
            </a:r>
            <a:endParaRPr lang="en-IN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640080" y="2834640"/>
            <a:ext cx="2285640" cy="4536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40080" y="3017520"/>
            <a:ext cx="7863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0BBDD"/>
                </a:solidFill>
                <a:effectLst/>
                <a:uFillTx/>
                <a:latin typeface="Arial"/>
                <a:ea typeface="Arial"/>
              </a:rPr>
              <a:t>Real-Time </a:t>
            </a:r>
            <a:r>
              <a:rPr lang="en-US" sz="1600" b="0" u="none" strike="noStrike">
                <a:solidFill>
                  <a:srgbClr val="A0BBDD"/>
                </a:solidFill>
                <a:effectLst/>
                <a:uFillTx/>
                <a:latin typeface="Arial"/>
                <a:ea typeface="Arial"/>
              </a:rPr>
              <a:t>Multimodal Face </a:t>
            </a:r>
            <a:r>
              <a:rPr lang="en-US" sz="1600" b="0" u="none" strike="noStrike">
                <a:solidFill>
                  <a:srgbClr val="A0BBDD"/>
                </a:solidFill>
                <a:effectLst/>
                <a:uFillTx/>
                <a:latin typeface="Arial"/>
                <a:ea typeface="Arial"/>
              </a:rPr>
              <a:t>Anti-Spoofing &amp; </a:t>
            </a:r>
            <a:r>
              <a:rPr lang="en-US" sz="1600" b="0" u="none" strike="noStrike">
                <a:solidFill>
                  <a:srgbClr val="A0BBDD"/>
                </a:solidFill>
                <a:effectLst/>
                <a:uFillTx/>
                <a:latin typeface="Arial"/>
                <a:ea typeface="Arial"/>
              </a:rPr>
              <a:t>Identity Consistency </a:t>
            </a:r>
            <a:r>
              <a:rPr lang="en-US" sz="1600" b="0" u="none" strike="noStrike">
                <a:solidFill>
                  <a:srgbClr val="A0BBDD"/>
                </a:solidFill>
                <a:effectLst/>
                <a:uFillTx/>
                <a:latin typeface="Arial"/>
                <a:ea typeface="Arial"/>
              </a:rPr>
              <a:t>System</a:t>
            </a:r>
            <a:endParaRPr lang="en-IN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40080" y="3474720"/>
            <a:ext cx="7863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Final Year Project </a:t>
            </a:r>
            <a:r>
              <a:rPr lang="en-US" sz="14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Review  ·  CDAC </a:t>
            </a:r>
            <a:r>
              <a:rPr lang="en-US" sz="14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Evaluation 2026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40080" y="4114800"/>
            <a:ext cx="7863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Presented by: SHIELD </a:t>
            </a:r>
            <a:r>
              <a:rPr lang="en-US" sz="14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Team  |  Supervised </a:t>
            </a:r>
            <a:r>
              <a:rPr lang="en-US" sz="14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by: CDAC Academic </a:t>
            </a:r>
            <a:r>
              <a:rPr lang="en-US" sz="14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Panel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3716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Identity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spoofing and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mid-session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candidate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swapping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compromise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remote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verification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systems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457200" y="1051560"/>
            <a:ext cx="8229240" cy="1800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457200" y="123444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Vulnerabilities in Remote Audits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457200" y="1600200"/>
            <a:ext cx="393156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4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1. Presentation Attacks: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Printed high-res photos and video replays on mobile screens easily bypass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basic facial recognition.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2. Deepfakes &amp; Masks: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Generative AI deepfakes and 3D silicone masks simulate realistic static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features.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3. The 'Tag-Team' Threat: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A candidate passes initial authentication, then swaps with an expert mid-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interview.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pos="0" algn="l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4"/>
          <p:cNvSpPr/>
          <p:nvPr/>
        </p:nvSpPr>
        <p:spPr>
          <a:xfrm>
            <a:off x="4754880" y="1325880"/>
            <a:ext cx="3931560" cy="2834280"/>
          </a:xfrm>
          <a:prstGeom prst="roundRect">
            <a:avLst>
              <a:gd name="adj" fmla="val 2581"/>
            </a:avLst>
          </a:prstGeom>
          <a:solidFill>
            <a:srgbClr val="F0F4F8"/>
          </a:solidFill>
          <a:ln w="1905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4937760" y="150876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The Core </a:t>
            </a:r>
            <a:r>
              <a:rPr lang="en-US" sz="18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Challenge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4937760" y="1965960"/>
            <a:ext cx="35658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Existing verification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packages are single-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modal (e.g., texture-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only) and fail to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capture physiological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signs or mid-session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user identity swaps. A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secure system must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fuse texture,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physiology, and real-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time candidate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validation into an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explainable, real-time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score.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457200" y="470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Source: ISO/IEC 30107-3 </a:t>
            </a:r>
            <a:r>
              <a:rPr lang="en-US" sz="11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Biometric Presentation Attack </a:t>
            </a:r>
            <a:r>
              <a:rPr lang="en-US" sz="11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Detection Standards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13716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Build a low-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latency, real-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time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multimodal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liveness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detection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system for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high-security </a:t>
            </a: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environments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457200" y="1051560"/>
            <a:ext cx="8229240" cy="1800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2"/>
          <p:cNvSpPr/>
          <p:nvPr/>
        </p:nvSpPr>
        <p:spPr>
          <a:xfrm>
            <a:off x="457200" y="1325880"/>
            <a:ext cx="3931560" cy="137124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457200" y="1325880"/>
            <a:ext cx="72720" cy="137124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4"/>
          <p:cNvSpPr/>
          <p:nvPr/>
        </p:nvSpPr>
        <p:spPr>
          <a:xfrm>
            <a:off x="640080" y="141732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1. Real-time Liveness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640080" y="182880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Classify and reject spoofing attacks under 100ms end-to-end server latency.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6"/>
          <p:cNvSpPr/>
          <p:nvPr/>
        </p:nvSpPr>
        <p:spPr>
          <a:xfrm>
            <a:off x="4663440" y="1325880"/>
            <a:ext cx="3931560" cy="137124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4663440" y="1325880"/>
            <a:ext cx="72720" cy="137124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4846320" y="141732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2. Physiological Pulse Checks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4846320" y="182880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Detect blood volume changes remotely (rPPG) to verify human biological presence.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57200" y="2880360"/>
            <a:ext cx="3931560" cy="137124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1"/>
          <p:cNvSpPr/>
          <p:nvPr/>
        </p:nvSpPr>
        <p:spPr>
          <a:xfrm>
            <a:off x="457200" y="2880360"/>
            <a:ext cx="72720" cy="137124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640080" y="297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3. Active Challenge-Response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640080" y="338328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Randomize user tasks (e.g., head turns) to defeat sophisticated pre-recorded replays.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4"/>
          <p:cNvSpPr/>
          <p:nvPr/>
        </p:nvSpPr>
        <p:spPr>
          <a:xfrm>
            <a:off x="4663440" y="2880360"/>
            <a:ext cx="3931560" cy="137124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663440" y="2880360"/>
            <a:ext cx="72720" cy="137124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4846320" y="297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4. Mid-session Consistency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7"/>
          <p:cNvSpPr/>
          <p:nvPr/>
        </p:nvSpPr>
        <p:spPr>
          <a:xfrm>
            <a:off x="4846320" y="338328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Prevent 'tag-team' candidate swapping using real-time geometric facial signatures.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457200" y="470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Deployment Targets: Remote Interviews and Automated Attendance Systems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0"/>
          <p:cNvSpPr/>
          <p:nvPr/>
        </p:nvSpPr>
        <p:spPr>
          <a:xfrm>
            <a:off x="457200" y="13716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The system filters frames via a Quality Gate and processes liveness signals in parallel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"/>
          <p:cNvSpPr/>
          <p:nvPr/>
        </p:nvSpPr>
        <p:spPr>
          <a:xfrm>
            <a:off x="457200" y="1051560"/>
            <a:ext cx="8229240" cy="1800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"/>
          <p:cNvSpPr/>
          <p:nvPr/>
        </p:nvSpPr>
        <p:spPr>
          <a:xfrm>
            <a:off x="457200" y="118872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SHIELD Pipeline Architecture Flow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3"/>
          <p:cNvSpPr/>
          <p:nvPr/>
        </p:nvSpPr>
        <p:spPr>
          <a:xfrm>
            <a:off x="457200" y="1691640"/>
            <a:ext cx="914040" cy="9140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4"/>
          <p:cNvSpPr/>
          <p:nvPr/>
        </p:nvSpPr>
        <p:spPr>
          <a:xfrm>
            <a:off x="457200" y="1691640"/>
            <a:ext cx="914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Camera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Input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5"/>
          <p:cNvSpPr/>
          <p:nvPr/>
        </p:nvSpPr>
        <p:spPr>
          <a:xfrm>
            <a:off x="1371600" y="2148840"/>
            <a:ext cx="274320" cy="360"/>
          </a:xfrm>
          <a:prstGeom prst="line">
            <a:avLst/>
          </a:prstGeom>
          <a:ln w="2540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417320" y="19659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&gt;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7"/>
          <p:cNvSpPr/>
          <p:nvPr/>
        </p:nvSpPr>
        <p:spPr>
          <a:xfrm>
            <a:off x="1645920" y="1691640"/>
            <a:ext cx="1005480" cy="9140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8"/>
          <p:cNvSpPr/>
          <p:nvPr/>
        </p:nvSpPr>
        <p:spPr>
          <a:xfrm>
            <a:off x="1645920" y="1691640"/>
            <a:ext cx="10054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YOLOv8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Face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9"/>
          <p:cNvSpPr/>
          <p:nvPr/>
        </p:nvSpPr>
        <p:spPr>
          <a:xfrm>
            <a:off x="2651760" y="2148840"/>
            <a:ext cx="274320" cy="360"/>
          </a:xfrm>
          <a:prstGeom prst="line">
            <a:avLst/>
          </a:prstGeom>
          <a:ln w="2540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0"/>
          <p:cNvSpPr/>
          <p:nvPr/>
        </p:nvSpPr>
        <p:spPr>
          <a:xfrm>
            <a:off x="2697480" y="19659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&gt;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1"/>
          <p:cNvSpPr/>
          <p:nvPr/>
        </p:nvSpPr>
        <p:spPr>
          <a:xfrm>
            <a:off x="2926080" y="1691640"/>
            <a:ext cx="1096920" cy="9140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2"/>
          <p:cNvSpPr/>
          <p:nvPr/>
        </p:nvSpPr>
        <p:spPr>
          <a:xfrm>
            <a:off x="2926080" y="1691640"/>
            <a:ext cx="10969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Quality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Gate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3"/>
          <p:cNvSpPr/>
          <p:nvPr/>
        </p:nvSpPr>
        <p:spPr>
          <a:xfrm>
            <a:off x="4023360" y="2148840"/>
            <a:ext cx="274320" cy="360"/>
          </a:xfrm>
          <a:prstGeom prst="line">
            <a:avLst/>
          </a:prstGeom>
          <a:ln w="2540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4"/>
          <p:cNvSpPr/>
          <p:nvPr/>
        </p:nvSpPr>
        <p:spPr>
          <a:xfrm>
            <a:off x="4069080" y="19659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&gt;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5"/>
          <p:cNvSpPr/>
          <p:nvPr/>
        </p:nvSpPr>
        <p:spPr>
          <a:xfrm>
            <a:off x="4297680" y="1691640"/>
            <a:ext cx="1371240" cy="914040"/>
          </a:xfrm>
          <a:prstGeom prst="rect">
            <a:avLst/>
          </a:prstGeom>
          <a:solidFill>
            <a:srgbClr val="1F4E79"/>
          </a:solidFill>
          <a:ln w="1905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4297680" y="1691640"/>
            <a:ext cx="137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Multimodal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Inference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7"/>
          <p:cNvSpPr/>
          <p:nvPr/>
        </p:nvSpPr>
        <p:spPr>
          <a:xfrm>
            <a:off x="5669280" y="2148840"/>
            <a:ext cx="274320" cy="360"/>
          </a:xfrm>
          <a:prstGeom prst="line">
            <a:avLst/>
          </a:prstGeom>
          <a:ln w="2540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5715000" y="19659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&gt;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9"/>
          <p:cNvSpPr/>
          <p:nvPr/>
        </p:nvSpPr>
        <p:spPr>
          <a:xfrm>
            <a:off x="5943600" y="1691640"/>
            <a:ext cx="1188360" cy="914040"/>
          </a:xfrm>
          <a:prstGeom prst="rect">
            <a:avLst/>
          </a:prstGeom>
          <a:solidFill>
            <a:srgbClr val="1F4E79"/>
          </a:solidFill>
          <a:ln w="1905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5943600" y="1691640"/>
            <a:ext cx="118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Weighted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Fusion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1"/>
          <p:cNvSpPr/>
          <p:nvPr/>
        </p:nvSpPr>
        <p:spPr>
          <a:xfrm>
            <a:off x="7132320" y="2148840"/>
            <a:ext cx="274320" cy="360"/>
          </a:xfrm>
          <a:prstGeom prst="line">
            <a:avLst/>
          </a:prstGeom>
          <a:ln w="2540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2"/>
          <p:cNvSpPr/>
          <p:nvPr/>
        </p:nvSpPr>
        <p:spPr>
          <a:xfrm>
            <a:off x="7178040" y="1965960"/>
            <a:ext cx="18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&gt;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3"/>
          <p:cNvSpPr/>
          <p:nvPr/>
        </p:nvSpPr>
        <p:spPr>
          <a:xfrm>
            <a:off x="7406640" y="1691640"/>
            <a:ext cx="1279800" cy="9140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4"/>
          <p:cNvSpPr/>
          <p:nvPr/>
        </p:nvSpPr>
        <p:spPr>
          <a:xfrm>
            <a:off x="7406640" y="1691640"/>
            <a:ext cx="1279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Decisive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UI Output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5"/>
          <p:cNvSpPr/>
          <p:nvPr/>
        </p:nvSpPr>
        <p:spPr>
          <a:xfrm>
            <a:off x="457200" y="3063240"/>
            <a:ext cx="8229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4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Quality-First check: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Rejects blurry, poorly lit, or occluded frames before sending to ML engines, reducing server workload.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Real-Time WebSockets: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Transfers raw frames and command structures in a low-latency binary duplex stream.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Decision Engine: </a:t>
            </a: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A weighted fusion of texture, biological pulse, and prompt adherence produces the final liveness score.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457200" y="13716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Four distinct evaluation modules process physical and behavioral signals in parallel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1051560"/>
            <a:ext cx="8229240" cy="1800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457200" y="123444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Signal Modality Analysis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457200" y="1600200"/>
            <a:ext cx="411444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14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1. Passive Texture Analysis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Uses MiniFASNet to inspect face crop patterns, distinguishing human skin properties from paper/screen print reflections.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2. Physiological Verification (rPPG)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Extracts heart rate Blood Volume Pulse (BVP) via a 3D spatio-temporal CNN. Foils silicone masks which lack pulse modulation.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3. Behavioral Verification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Tracks landmarks with MediaPipe Face Mesh to monitor blinks, smiles, and head rotations in real time.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4"/>
          <p:cNvSpPr/>
          <p:nvPr/>
        </p:nvSpPr>
        <p:spPr>
          <a:xfrm>
            <a:off x="4846320" y="1325880"/>
            <a:ext cx="3840120" cy="2925720"/>
          </a:xfrm>
          <a:prstGeom prst="roundRect">
            <a:avLst>
              <a:gd name="adj" fmla="val 2500"/>
            </a:avLst>
          </a:prstGeom>
          <a:solidFill>
            <a:srgbClr val="F0F4F8"/>
          </a:solidFill>
          <a:ln w="1905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5029200" y="150876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Active Challenge-Response (Gold Standard)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5029200" y="1965960"/>
            <a:ext cx="34743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Dynamic Tasks: </a:t>
            </a: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Randomly instructs users (e.g., 'Turn Head Left', 'Blink') to ensure interactive presence.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Temporal Validation: </a:t>
            </a: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Detects digital jump-cuts, pre-edited frame sequences, or replay injection speeds.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Defeats Replays: </a:t>
            </a: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A purely passive system can be fooled by moving digital screens. Random prompts confirm live user feedback.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457200" y="13716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Real-time facial signatures block mid-session candidate swapping attacks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"/>
          <p:cNvSpPr/>
          <p:nvPr/>
        </p:nvSpPr>
        <p:spPr>
          <a:xfrm>
            <a:off x="457200" y="1051560"/>
            <a:ext cx="8229240" cy="1800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"/>
          <p:cNvSpPr/>
          <p:nvPr/>
        </p:nvSpPr>
        <p:spPr>
          <a:xfrm>
            <a:off x="457200" y="12344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Addressing the 'Tag-Team' Vulnerability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"/>
          <p:cNvSpPr/>
          <p:nvPr/>
        </p:nvSpPr>
        <p:spPr>
          <a:xfrm>
            <a:off x="457200" y="160020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The Candidate Swap Attack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4"/>
          <p:cNvSpPr/>
          <p:nvPr/>
        </p:nvSpPr>
        <p:spPr>
          <a:xfrm>
            <a:off x="457200" y="1965960"/>
            <a:ext cx="393156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In high-stakes interviews, a candidate may pass the initial liveness check and then swap seats with an expert when technical questions begin.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Passive anti-spoofing algorithms only check if a 'live face' is present; they do NOT verify if it is the SAME face that initially authenticated.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4754880" y="1508760"/>
            <a:ext cx="3931560" cy="2834280"/>
          </a:xfrm>
          <a:prstGeom prst="roundRect">
            <a:avLst>
              <a:gd name="adj" fmla="val 2581"/>
            </a:avLst>
          </a:prstGeom>
          <a:solidFill>
            <a:srgbClr val="F0F4F8"/>
          </a:solidFill>
          <a:ln w="1270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4937760" y="169164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Our 4D Geometric Signature Solution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7"/>
          <p:cNvSpPr/>
          <p:nvPr/>
        </p:nvSpPr>
        <p:spPr>
          <a:xfrm>
            <a:off x="4937760" y="2057400"/>
            <a:ext cx="35658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Stable Landmarks: </a:t>
            </a: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Extracts 6 high-stability landmarks (pupils, nose tip, mouth corners, chin tip) from MediaPipe FaceMesh.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Scale-Invariant 4D Signature: </a:t>
            </a: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Calculates interocular-distance normalized ratios to form a signature invariant to camera movement.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Real-Time Rejection: </a:t>
            </a: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Continuously monitors distance. If the signature deviates by &gt; 0.20, the session terminates immediately as an 'Identity mismatch'.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457200" y="13716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SHIELD bridges the gap between passive detection and active presence verification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"/>
          <p:cNvSpPr/>
          <p:nvPr/>
        </p:nvSpPr>
        <p:spPr>
          <a:xfrm>
            <a:off x="457200" y="1051560"/>
            <a:ext cx="8229240" cy="1800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"/>
          <p:cNvSpPr/>
          <p:nvPr/>
        </p:nvSpPr>
        <p:spPr>
          <a:xfrm>
            <a:off x="457200" y="12344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How SHIELD Differs from Competitors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Table 0"/>
          <p:cNvGraphicFramePr/>
          <p:nvPr/>
        </p:nvGraphicFramePr>
        <p:xfrm>
          <a:off x="457200" y="1600200"/>
          <a:ext cx="8229240" cy="277452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Feature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Standard Open Source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Enterprise (FaceTec/AWS)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SHIELD (Ours)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Deep rPPG Pulse Checks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❌ None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⚠️ Secret / Cloud only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F4E79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✅ Integrated (Local/Fast)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EBF3FA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Hybrid Active + Passive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❌ Passive only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✅ Yes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F4E79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✅ Yes (WebSocket-optimized)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EBF3FA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Mid-Session Swap Check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❌ None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❌ Initial check only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F4E79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✅ Continuous 4D signature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EBF3FA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Real-Time Quality Gate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❌ None (fails raw)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✅ Yes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F4E79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✅ Yes (Reject blur/dark)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EBF3FA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Model Footprint / Latency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⚠️ Heavy / Slow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⚠️ Cloud latency &gt; 500ms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F4E79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✅ &lt; 85ms end-to-end local</a:t>
                      </a:r>
                      <a:endParaRPr lang="en-IN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EBF3FA"/>
                    </a:solidFill>
                  </a:tcPr>
                </a:tc>
              </a:tr>
            </a:tbl>
          </a:graphicData>
        </a:graphic>
      </p:graphicFrame>
      <p:sp>
        <p:nvSpPr>
          <p:cNvPr id="87" name="Text 3"/>
          <p:cNvSpPr/>
          <p:nvPr/>
        </p:nvSpPr>
        <p:spPr>
          <a:xfrm>
            <a:off x="457200" y="443484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Unique Novelty: Fusing biological pulse (rPPG) with scale-invariant geometric signatures for continuous session trust.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457200" y="13716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SHIELD achieves high classification accuracy and exceeds ISO/IEC standards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"/>
          <p:cNvSpPr/>
          <p:nvPr/>
        </p:nvSpPr>
        <p:spPr>
          <a:xfrm>
            <a:off x="457200" y="1051560"/>
            <a:ext cx="8229240" cy="1800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"/>
          <p:cNvSpPr/>
          <p:nvPr/>
        </p:nvSpPr>
        <p:spPr>
          <a:xfrm>
            <a:off x="457200" y="1234440"/>
            <a:ext cx="4388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ISO/IEC 30107-3 Benchmark Comparison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Table 0"/>
          <p:cNvGraphicFramePr/>
          <p:nvPr/>
        </p:nvGraphicFramePr>
        <p:xfrm>
          <a:off x="457200" y="1600200"/>
          <a:ext cx="4388760" cy="201132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</a:tblGrid>
              <a:tr h="4021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Metric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SHIELD Score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ISO Standard</a:t>
                      </a:r>
                      <a:endParaRPr lang="en-IN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021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APCER (Attack Error Rate)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1.2%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&lt; 5.0%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4021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BPCER (Bona Fide Error Rate)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0.8%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&lt; 3.0%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4021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ACER (Average Error Rate)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F4E79"/>
                          </a:solidFill>
                          <a:effectLst/>
                          <a:uFillTx/>
                          <a:latin typeface="Calibri"/>
                        </a:rPr>
                        <a:t>1.0%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&lt; 4.0%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4021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End-to-End Latency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85 ms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&lt; 150 ms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CCCCCC"/>
                      </a:solidFill>
                      <a:prstDash val="solid"/>
                    </a:lnL>
                    <a:lnR w="12240">
                      <a:solidFill>
                        <a:srgbClr val="CCCCCC"/>
                      </a:solidFill>
                      <a:prstDash val="solid"/>
                    </a:lnR>
                    <a:lnT w="12240">
                      <a:solidFill>
                        <a:srgbClr val="CCCCCC"/>
                      </a:solidFill>
                      <a:prstDash val="solid"/>
                    </a:lnT>
                    <a:lnB w="1224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2" name="Text 3"/>
          <p:cNvSpPr/>
          <p:nvPr/>
        </p:nvSpPr>
        <p:spPr>
          <a:xfrm>
            <a:off x="5120640" y="123444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Key Empirical Takeaways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4"/>
          <p:cNvSpPr/>
          <p:nvPr/>
        </p:nvSpPr>
        <p:spPr>
          <a:xfrm>
            <a:off x="5120640" y="1600200"/>
            <a:ext cx="35658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High Security: </a:t>
            </a: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Fusing texture, rPPG, and active prompts yields a low 1.0% ACER, making it highly secure.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Weighted Fusion Optimization: </a:t>
            </a: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Systematic grid-search tuning established optimal weights: 65% Challenge, 15% Antispoof, 10% rPPG, 10% Blink.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• Low Latency: </a:t>
            </a: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85ms average processing time ensures a fluid, lag-free user experience over standard WebSockets.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457200" y="470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77777"/>
                </a:solidFill>
                <a:effectLst/>
                <a:uFillTx/>
                <a:latin typeface="Arial"/>
                <a:ea typeface="Arial"/>
              </a:rPr>
              <a:t>Evaluation dataset: Unified CASIA-FASD and CelebA-Spoof validation sets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457200" y="13716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A WebSocket-driven Flutter UI provides real-time guidance and verification feedback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"/>
          <p:cNvSpPr/>
          <p:nvPr/>
        </p:nvSpPr>
        <p:spPr>
          <a:xfrm>
            <a:off x="457200" y="1051560"/>
            <a:ext cx="8229240" cy="1800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457200" y="1234440"/>
            <a:ext cx="4388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Arial"/>
                <a:ea typeface="Arial"/>
              </a:rPr>
              <a:t>Interactive Verification Flow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"/>
          <p:cNvSpPr/>
          <p:nvPr/>
        </p:nvSpPr>
        <p:spPr>
          <a:xfrm>
            <a:off x="457200" y="1600200"/>
            <a:ext cx="438876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14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1. Pre-Verification Gateway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Guides the user to align their face and checks background lighting.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2. Dynamic Face Guide Oval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Visual boundary indicator glows Blue during scan, Red on error (blur/poor light), and Green upon success.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1F4E79"/>
                </a:solidFill>
                <a:effectLst/>
                <a:uFillTx/>
                <a:latin typeface="Arial"/>
                <a:ea typeface="Arial"/>
              </a:rPr>
              <a:t>3. Spotlight Challenge Prompt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Draws focus on active instructions (e.g. 'Look Right') and handles real-time response validation.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"/>
          <p:cNvSpPr/>
          <p:nvPr/>
        </p:nvSpPr>
        <p:spPr>
          <a:xfrm>
            <a:off x="5029200" y="1417320"/>
            <a:ext cx="3657240" cy="2742840"/>
          </a:xfrm>
          <a:prstGeom prst="roundRect">
            <a:avLst>
              <a:gd name="adj" fmla="val 1667"/>
            </a:avLst>
          </a:prstGeom>
          <a:solidFill>
            <a:srgbClr val="111111"/>
          </a:solidFill>
          <a:ln w="2540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5"/>
          <p:cNvSpPr/>
          <p:nvPr/>
        </p:nvSpPr>
        <p:spPr>
          <a:xfrm>
            <a:off x="6537960" y="2423160"/>
            <a:ext cx="639720" cy="639720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6"/>
          <p:cNvSpPr/>
          <p:nvPr/>
        </p:nvSpPr>
        <p:spPr>
          <a:xfrm rot="5400000">
            <a:off x="6741360" y="2586600"/>
            <a:ext cx="314280" cy="28044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5029200" y="425196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D2D2D"/>
                </a:solidFill>
                <a:effectLst/>
                <a:uFillTx/>
                <a:latin typeface="Arial"/>
                <a:ea typeface="Arial"/>
              </a:rPr>
              <a:t>Verification Demonstration Video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457200" y="228600"/>
            <a:ext cx="8229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A0BBDD"/>
                </a:solidFill>
                <a:effectLst/>
                <a:uFillTx/>
                <a:latin typeface="Arial"/>
                <a:ea typeface="Arial"/>
              </a:rPr>
              <a:t>Conclusions &amp; Future Work</a:t>
            </a:r>
            <a:endParaRPr lang="en-IN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"/>
          <p:cNvSpPr/>
          <p:nvPr/>
        </p:nvSpPr>
        <p:spPr>
          <a:xfrm>
            <a:off x="457200" y="640080"/>
            <a:ext cx="8229240" cy="36360"/>
          </a:xfrm>
          <a:prstGeom prst="rect">
            <a:avLst/>
          </a:prstGeom>
          <a:solidFill>
            <a:srgbClr val="2E75B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7200" y="82296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0BBDD"/>
                </a:solidFill>
                <a:effectLst/>
                <a:uFillTx/>
                <a:latin typeface="Arial"/>
                <a:ea typeface="Arial"/>
              </a:rPr>
              <a:t>Key Takeaways</a:t>
            </a:r>
            <a:endParaRPr lang="en-IN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457200" y="1188720"/>
            <a:ext cx="39315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1. Robust Multimodal Fusion: </a:t>
            </a: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Fusing MiniFASNet, rPPG pulse checks, and active tasks yields a solid 1.0% ACER.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2. Swapping Prevention: </a:t>
            </a: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Continuous geometric signatures stop candidate swaps in high-stakes tests.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3. Edge Deployment Ready: </a:t>
            </a: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Real-time WebSocket engine runs under 85ms end-to-end.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4754880" y="82296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0BBDD"/>
                </a:solidFill>
                <a:effectLst/>
                <a:uFillTx/>
                <a:latin typeface="Arial"/>
                <a:ea typeface="Arial"/>
              </a:rPr>
              <a:t>Future Scope &amp; References</a:t>
            </a:r>
            <a:endParaRPr lang="en-IN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4754880" y="1188720"/>
            <a:ext cx="39315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Future Scope: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• Deploy models as client-side ONNX on mobile devices.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• Expand dataset to include high-quality silicone 3D masks.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References: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• ISO/IEC 30107-3 (Biometric Presentation Attack Detection)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• PhysNet: Spatio-Temporal 3D CNN for Remote HR Estimation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ADCFC"/>
                </a:solidFill>
                <a:effectLst/>
                <a:uFillTx/>
                <a:latin typeface="Arial"/>
                <a:ea typeface="Arial"/>
              </a:rPr>
              <a:t>• MediaPipe FaceMesh &amp; MiniFASNet Baselines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457200" y="443484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A0BBDD"/>
                </a:solidFill>
                <a:effectLst/>
                <a:uFillTx/>
                <a:latin typeface="Arial"/>
                <a:ea typeface="Arial"/>
              </a:rPr>
              <a:t>Contact: project.shield@cdac.in  |  Repository: github.com/sthavirpunwatkar/SHIELD</a:t>
            </a:r>
            <a:endParaRPr lang="en-IN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2026-07-04T18:05:26Z</dcterms:created>
  <dc:creator>SHIELD Project Team</dc:creator>
  <dc:description/>
  <dc:language>en-IN</dc:language>
  <cp:lastModifiedBy/>
  <dcterms:modified xsi:type="dcterms:W3CDTF">2026-07-04T23:37:56Z</dcterms:modified>
  <cp:revision>2</cp:revision>
  <dc:subject>PptxGenJS Presentation</dc:subject>
  <dc:title>SHIELD CDAC Project Review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