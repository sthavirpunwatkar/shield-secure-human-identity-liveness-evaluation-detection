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SHIELD: Secure Human Identity &amp; Liveness Evaluation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22860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Multimodal Face Anti-Spoofing &amp; Identity Consistency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Review  ·  CDAC Evaluation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SHIELD Team  |  Supervised by: CDAC Academic Panel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spoofing and mid-session candidate swapping compromise remote verification systems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 in Remote Audits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Presentation Attacks: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photos and screen video replays bypass basic face matching.
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Deepfakes &amp; Masks: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deepfakes and 3D masks mimic static traits.
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Candidate Swapping: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authenticate and swap seats mid-session.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Challenge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Texture-only checks fail to catch physiological signs or candidate swaps. A secure system must fuse texture, physiology, and real-time candidate validation into an explainable score.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ISO/IEC 30107-3 Biometric Presentation Attack Detection Standards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low-latency, real-time multimodal liveness detection system for high-security environments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Liveness: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and reject spoof attacks under 100ms end-to-end latency.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Physiological Pulse: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remote heart rate (rPPG) to confirm biological human presence.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Challenge-Response: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 user tasks to defeat pre-recorded replay videos.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Mid-Session Swap Protection: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identity continuity using real-time geometric signatures.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Targets: Remote Interviews and Automated Attendance Systems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filters frames via a Quality Gate and processes liveness signals in parallel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Pipeline Architecture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914400" cy="9144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2743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1005840" cy="9144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148840"/>
            <a:ext cx="2743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1691640"/>
            <a:ext cx="1097280" cy="9144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691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2148840"/>
            <a:ext cx="2743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7680" y="1691640"/>
            <a:ext cx="1371600" cy="914400"/>
          </a:xfrm>
          <a:prstGeom prst="rect">
            <a:avLst/>
          </a:prstGeom>
          <a:solidFill>
            <a:srgbClr val="1F4E79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691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2148840"/>
            <a:ext cx="2743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691640"/>
            <a:ext cx="1188720" cy="914400"/>
          </a:xfrm>
          <a:prstGeom prst="rect">
            <a:avLst/>
          </a:prstGeom>
          <a:solidFill>
            <a:srgbClr val="1F4E79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6916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2148840"/>
            <a:ext cx="2743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06640" y="1691640"/>
            <a:ext cx="1280160" cy="9144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691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Output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2971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Quality-First Check: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blurry or dark frames before inference to save server load.
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Bi-directional WebSockets: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real-time, low-latency binary frame streaming.
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Fusion Engine: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texture, pulse, and challenge prompts for the final score.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distinct evaluation modules process physical and behavioral signals in parallel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Modality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Passive Texture Analysis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non-human patterns on printed paper or mobile screens.
</a:t>
            </a:r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Physiological Verification (rPPG)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blood volume pulse remotely to foil static silicone masks.
</a:t>
            </a:r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Behavioral Verification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blinks and head rotations to prevent static replays.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0" y="132588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Challenge-Response (Gold Standard)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Tasks: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prompts user actions (e.g. blinks, turns).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Temporal Validation: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video cuts, speed manipulation, or stream injection.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Verification: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real-time compliance unlike simple passive checks.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facial signatures block mid-session candidate swapping attacks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'Tag-Team' Vulnerability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Candidate Swap Attack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Candidate Swap Vulnerability: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swap seats with experts after passing initial checks.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Passive System Limitation: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liveness checks verify human presence but ignore identity consistency throughout the session.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4D Geometric Signature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Facial Landmarks: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6 stable features from MediaPipe FaceMesh.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Geometric Signature: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interocular-distance normalized ratio vectors.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Hardening: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Terminates instantly if face signature deviates by &gt; 0.20.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bridges the gap between passive detection and active presence verification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SHIELD Differs from Competitors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Open Source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(FaceTec/AWS)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SHIELD (Ours)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rPPG Pulse Checks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Secret / Cloud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Integrated (Local/Fast)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Active + Passive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Passive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 (WebSocket-optimized)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Mid-Session Swap 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Initial check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Continuous 4D signature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Quality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 (fails raw)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 (Reject blur/dark)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Footprint / Latency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Heavy / Slow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Cloud latency &gt; 500ms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&lt; 85ms end-to-end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Novelty: Fusing biological pulse (rPPG) with scale-invariant geometric signatures for continuous session trust.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achieves high classification accuracy and exceeds ISO/IEC standards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30107-3 Benchmark Comparison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38912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SHIELD 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ISO Standard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APCER (Attack Error Rate)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5.0%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BPCER (Bona Fide Error Rate)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3.0%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ACER (Average Error Rate)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</a:rPr>
                        <a:t>1.0%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4.0%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End-to-End Latency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 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150 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2064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Empirical Takeaways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12064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Security: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Fusing texture, rPPG, and active prompts yields a low 1.0% ACER.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Optimal Weights: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Empirically tuned: 65% Challenge, 15% Antispoof, 10% rPPG, 10% Blink.
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Latency: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85ms average execution ensures a lag-free user interface.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dataset: Unified CASIA-FASD and CelebA-Spoof validation sets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WebSocket-driven Flutter UI provides real-time guidance and verification feedback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Verification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Pre-Verification Gateway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user and checks ambient light levels.
</a:t>
            </a:r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Dynamic Face Guide Oval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Glows blue during scan, red on errors, green on success.
</a:t>
            </a:r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Spotlight Prompt UI
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clear, real-time interactive challenges.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0" y="1417320"/>
            <a:ext cx="3657600" cy="2743200"/>
          </a:xfrm>
          <a:prstGeom prst="roundRect">
            <a:avLst>
              <a:gd name="adj" fmla="val 1667"/>
            </a:avLst>
          </a:prstGeom>
          <a:solidFill>
            <a:srgbClr val="111111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2423160"/>
            <a:ext cx="640080" cy="64008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6784848" y="2606040"/>
            <a:ext cx="182880" cy="27432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Demonstration Video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Multimodal Fusion: 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a low 1.0% ACER using optimized weights.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Swap Prevention: 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4D signatures secure active session integrity.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Production Ready: 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Sub-100ms end-to-end verification over WebSockets.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References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
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Compile client-side ONNX for direct mobile execution.
• Expand training with high-fidelity 3D masks.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References:
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ISO/IEC 30107-3 Standards for PAD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PhysNet 3D CNN Spatio-Temporal Heart 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project.shield@cdac.in  |  Repository: github.com/sthavirpunwatkar/SHIELD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 CDAC Project Review</dc:title>
  <dc:subject>PptxGenJS Presentation</dc:subject>
  <dc:creator>SHIELD Project Team</dc:creator>
  <cp:lastModifiedBy>SHIELD Project Team</cp:lastModifiedBy>
  <cp:revision>1</cp:revision>
  <dcterms:created xsi:type="dcterms:W3CDTF">2026-07-04T18:31:10Z</dcterms:created>
  <dcterms:modified xsi:type="dcterms:W3CDTF">2026-07-04T18:31:10Z</dcterms:modified>
</cp:coreProperties>
</file>