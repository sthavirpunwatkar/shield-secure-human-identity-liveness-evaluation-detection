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8016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SHIELD: Secure Human Identity &amp; Liveness Evaluation Detection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286000" cy="45720"/>
          </a:xfrm>
          <a:prstGeom prst="rect">
            <a:avLst/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017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A0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Multimodal Face Anti-Spoofing &amp; Identity Consistency System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4747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Year Project Review  ·  CDAC Evaluation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by: SHIELD Team  |  Supervised by: CDAC Academic Panel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spoofing and mid-session candidate swapping compromise remote verification systems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18288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Vulnerabilities in Remote Audits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39319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Presentation Attacks: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high-res photos and video replays on mobile screens easily bypass basic facial recognition.
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Deepfakes &amp; Masks: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 deepfakes and 3D silicone masks simulate realistic static features.
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The 'Tag-Team' Threat: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candidate passes initial authentication, then swaps with an expert mid-interview.
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32588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F0F4F8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5087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Challenge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937760" y="1965960"/>
            <a:ext cx="35661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verification packages are single-modal (e.g., texture-only) and fail to capture physiological signs or mid-session user identity swaps. A secure system must fuse texture, physiology, and real-time candidate validation into an explainable, real-time score.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ISO/IEC 30107-3 Biometric Presentation Attack Detection Standards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low-latency, real-time multimodal liveness detection system for high-security environments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18288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25880"/>
            <a:ext cx="3931920" cy="1371600"/>
          </a:xfrm>
          <a:prstGeom prst="rect">
            <a:avLst/>
          </a:prstGeom>
          <a:solidFill>
            <a:srgbClr val="F0F4F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73152" cy="1371600"/>
          </a:xfrm>
          <a:prstGeom prst="rect">
            <a:avLst/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Real-time Liveness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 and reject spoofing attacks under 100ms end-to-end server latency.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3931920" cy="1371600"/>
          </a:xfrm>
          <a:prstGeom prst="rect">
            <a:avLst/>
          </a:prstGeom>
          <a:solidFill>
            <a:srgbClr val="F0F4F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325880"/>
            <a:ext cx="73152" cy="1371600"/>
          </a:xfrm>
          <a:prstGeom prst="rect">
            <a:avLst/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4173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Physiological Pulse Checks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46320" y="182880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blood volume changes remotely (rPPG) to verify human biological presence.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3931920" cy="1371600"/>
          </a:xfrm>
          <a:prstGeom prst="rect">
            <a:avLst/>
          </a:prstGeom>
          <a:solidFill>
            <a:srgbClr val="F0F4F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80360"/>
            <a:ext cx="73152" cy="1371600"/>
          </a:xfrm>
          <a:prstGeom prst="rect">
            <a:avLst/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971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Active Challenge-Response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338328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Randomize user tasks (e.g., head turns) to defeat sophisticated pre-recorded replays.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63440" y="2880360"/>
            <a:ext cx="3931920" cy="1371600"/>
          </a:xfrm>
          <a:prstGeom prst="rect">
            <a:avLst/>
          </a:prstGeom>
          <a:solidFill>
            <a:srgbClr val="F0F4F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3440" y="2880360"/>
            <a:ext cx="73152" cy="1371600"/>
          </a:xfrm>
          <a:prstGeom prst="rect">
            <a:avLst/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971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Mid-session Consistency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846320" y="338328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 'tag-team' candidate swapping using real-time geometric facial signatures.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Targets: Remote Interviews and Automated Attendance Systems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filters frames via a Quality Gate and processes liveness signals in parallel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18288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SHIELD Pipeline Architecture Flow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914400" cy="91440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916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371600" y="2148840"/>
            <a:ext cx="274320" cy="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196596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645920" y="1691640"/>
            <a:ext cx="1005840" cy="91440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45920" y="1691640"/>
            <a:ext cx="100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651760" y="2148840"/>
            <a:ext cx="274320" cy="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196596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926080" y="1691640"/>
            <a:ext cx="1097280" cy="91440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26080" y="169164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023360" y="2148840"/>
            <a:ext cx="274320" cy="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69080" y="196596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297680" y="1691640"/>
            <a:ext cx="1371600" cy="914400"/>
          </a:xfrm>
          <a:prstGeom prst="rect">
            <a:avLst/>
          </a:prstGeom>
          <a:solidFill>
            <a:srgbClr val="1F4E79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0" y="169164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0" y="2148840"/>
            <a:ext cx="274320" cy="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15000" y="196596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943600" y="1691640"/>
            <a:ext cx="1188720" cy="914400"/>
          </a:xfrm>
          <a:prstGeom prst="rect">
            <a:avLst/>
          </a:prstGeom>
          <a:solidFill>
            <a:srgbClr val="1F4E79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691640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132320" y="2148840"/>
            <a:ext cx="274320" cy="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78040" y="196596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406640" y="1691640"/>
            <a:ext cx="1280160" cy="91440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0" y="1691640"/>
            <a:ext cx="1280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Decisive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Output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306324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Quality-First check: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Rejects blurry, poorly lit, or occluded frames before sending to ML engines, reducing server workload.
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Real-Time WebSockets: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Transfers raw frames and command structures in a low-latency binary duplex stream.
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Decision Engine: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weighted fusion of texture, biological pulse, and prompt adherence produces the final liveness score.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distinct evaluation modules process physical and behavioral signals in parallel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18288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Modality Analysis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41148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Passive Texture Analysis
</a:t>
            </a:r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MiniFASNet to inspect face crop patterns, distinguishing human skin properties from paper/screen print reflections.
</a:t>
            </a:r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Physiological Verification (rPPG)
</a:t>
            </a:r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heart rate Blood Volume Pulse (BVP) via a 3D spatio-temporal CNN. Foils silicone masks which lack pulse modulation.
</a:t>
            </a:r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Behavioral Verification
</a:t>
            </a:r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landmarks with MediaPipe Face Mesh to monitor blinks, smiles, and head rotations in real time.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325880"/>
            <a:ext cx="3840480" cy="2926080"/>
          </a:xfrm>
          <a:prstGeom prst="roundRect">
            <a:avLst>
              <a:gd name="adj" fmla="val 2500"/>
            </a:avLst>
          </a:prstGeom>
          <a:solidFill>
            <a:srgbClr val="F0F4F8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5087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Challenge-Response (Gold Standard)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0" y="196596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Dynamic Tasks: </a:t>
            </a:r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Randomly instructs users (e.g., 'Turn Head Left', 'Blink') to ensure interactive presence.
</a:t>
            </a:r>
            <a:pPr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Temporal Validation: </a:t>
            </a:r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Detects digital jump-cuts, pre-edited frame sequences, or replay injection speeds.
</a:t>
            </a:r>
            <a:pPr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Defeats Replays: </a:t>
            </a:r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purely passive system can be fooled by moving digital screens. Random prompts confirm live user feedback.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facial signatures block mid-session candidate swapping attacks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18288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Addressing the 'Tag-Team' Vulnerability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Candidate Swap Attack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39319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high-stakes interviews, a candidate may pass the initial liveness check and then swap seats with an expert when technical questions begin.
</a:t>
            </a:r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Passive anti-spoofing algorithms only check if a 'live face' is present; they do NOT verify if it is the SAME face that initially authenticated.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50876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F0F4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691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4D Geometric Signature Solution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20574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Stable Landmarks: </a:t>
            </a:r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6 high-stability landmarks (pupils, nose tip, mouth corners, chin tip) from MediaPipe FaceMesh.
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Scale-Invariant 4D Signature: </a:t>
            </a:r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Calculates interocular-distance normalized ratios to form a signature invariant to camera movement.
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Real-Time Rejection: </a:t>
            </a:r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Continuously monitors distance. If the signature deviates by &gt; 0.20, the session terminates immediately as an 'Identity mismatch'.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SHIELD bridges the gap between passive detection and active presence verification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18288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SHIELD Differs from Competitors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8229600" cy="27432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Open Source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(FaceTec/AWS)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SHIELD (Ours)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 rPPG Pulse Checks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None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Secret / Cloud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Integrated (Local/Fast)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Hybrid Active + Passive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Passive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Yes (WebSocket-optimized)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Mid-Session Swap Check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None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Initial check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Continuous 4D signature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Real-Time Quality Gate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None (fails raw)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Yes (Reject blur/dark)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Footprint / Latency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Heavy / Slow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Cloud latency &gt; 500ms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&lt; 85ms end-to-end local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Novelty: Fusing biological pulse (rPPG) with scale-invariant geometric signatures for continuous session trust.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SHIELD achieves high classification accuracy and exceeds ISO/IEC standards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18288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ISO/IEC 30107-3 Benchmark Comparison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4389120" cy="201168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SHIELD Score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ISO Standard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APCER (Attack Error Rate)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1.2%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&lt; 5.0%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BPCER (Bona Fide Error Rate)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0.8%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&lt; 3.0%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ACER (Average Error Rate)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4E79"/>
                          </a:solidFill>
                        </a:rPr>
                        <a:t>1.0%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&lt; 4.0%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End-to-End Latency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85 ms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&lt; 150 ms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120640" y="12344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Empirical Takeaways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120640" y="160020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High Security: </a:t>
            </a:r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Fusing texture, rPPG, and active prompts yields a low 1.0% ACER, making it highly secure.
</a:t>
            </a:r>
            <a:pPr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Weighted Fusion Optimization: </a:t>
            </a:r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Systematic grid-search tuning established optimal weights: 65% Challenge, 15% Antispoof, 10% rPPG, 10% Blink.
</a:t>
            </a:r>
            <a:pPr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Low Latency: </a:t>
            </a:r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85ms average processing time ensures a fluid, lag-free user experience over standard WebSockets.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dataset: Unified CASIA-FASD and CelebA-Spoof validation sets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WebSocket-driven Flutter UI provides real-time guidance and verification feedback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18288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Verification Flow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43891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Pre-Verification Gateway
</a:t>
            </a:r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Guides the user to align their face and checks background lighting.
</a:t>
            </a:r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Dynamic Face Guide Oval
</a:t>
            </a:r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boundary indicator glows Blue during scan, Red on error (blur/poor light), and Green upon success.
</a:t>
            </a:r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Spotlight Challenge Prompt
</a:t>
            </a:r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Draws focus on active instructions (e.g. 'Look Right') and handles real-time response validation.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0" y="1417320"/>
            <a:ext cx="3657600" cy="2743200"/>
          </a:xfrm>
          <a:prstGeom prst="roundRect">
            <a:avLst>
              <a:gd name="adj" fmla="val 1667"/>
            </a:avLst>
          </a:prstGeom>
          <a:solidFill>
            <a:srgbClr val="111111"/>
          </a:solidFill>
          <a:ln w="25400">
            <a:solidFill>
              <a:srgbClr val="2E75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37960" y="2423160"/>
            <a:ext cx="640080" cy="640080"/>
          </a:xfrm>
          <a:prstGeom prst="ellipse">
            <a:avLst/>
          </a:prstGeom>
          <a:solidFill>
            <a:srgbClr val="2E75B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5400000">
            <a:off x="6784848" y="2606040"/>
            <a:ext cx="182880" cy="27432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4251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Demonstration Video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A0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 &amp; Future Work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640080"/>
            <a:ext cx="8229600" cy="36576"/>
          </a:xfrm>
          <a:prstGeom prst="rect">
            <a:avLst/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229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9319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Robust Multimodal Fusion: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Fusing MiniFASNet, rPPG pulse checks, and active tasks yields a solid 1.0% ACER.
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Swapping Prevention: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geometric signatures stop candidate swaps in high-stakes tests.
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Edge Deployment Ready: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WebSocket engine runs under 85ms end-to-end.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8229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Scope &amp; References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754880" y="1188720"/>
            <a:ext cx="39319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Scope:
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Deploy models as client-side ONNX on mobile devices.
• Expand dataset to include high-quality silicone 3D masks.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References:
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ISO/IEC 30107-3 (Biometric Presentation Attack Detection)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PhysNet: Spatio-Temporal 3D CNN for Remote HR Estimation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MediaPipe FaceMesh &amp; MiniFASNet Baselines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0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Contact: project.shield@cdac.in  |  Repository: github.com/sthavirpunwatkar/SHIELD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SHIELD CDAC Project Review</dc:title>
  <dc:subject>PptxGenJS Presentation</dc:subject>
  <dc:creator>SHIELD Project Team</dc:creator>
  <cp:lastModifiedBy>SHIELD Project Team</cp:lastModifiedBy>
  <cp:revision>1</cp:revision>
  <dcterms:created xsi:type="dcterms:W3CDTF">2026-07-04T18:03:57Z</dcterms:created>
  <dcterms:modified xsi:type="dcterms:W3CDTF">2026-07-04T18:03:57Z</dcterms:modified>
</cp:coreProperties>
</file>