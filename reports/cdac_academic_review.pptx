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10817352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800020"/>
                </a:solidFill>
                <a:latin typeface="Georgia"/>
              </a:defRPr>
            </a:pPr>
            <a:r>
              <a:t>SHIELD: A MULTIMODAL LIVENESS FRAMEWORK</a:t>
            </a:r>
          </a:p>
          <a:p>
            <a:pPr>
              <a:spcBef>
                <a:spcPts val="800"/>
              </a:spcBef>
              <a:defRPr sz="1600" b="1">
                <a:solidFill>
                  <a:srgbClr val="002147"/>
                </a:solidFill>
                <a:latin typeface="Arial"/>
              </a:defRPr>
            </a:pPr>
            <a:r>
              <a:t>Theoretical Design and Experimental Validation of Standard-Compliant Remote Biometric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91840"/>
            <a:ext cx="108173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529"/>
                </a:solidFill>
                <a:latin typeface="Arial"/>
              </a:defRPr>
            </a:pPr>
            <a:r>
              <a:t>Candidate Identity Liveness Evaluation  |  Academic Thesis Defense</a:t>
            </a:r>
          </a:p>
          <a:p>
            <a:pPr>
              <a:spcBef>
                <a:spcPts val="600"/>
              </a:spcBef>
              <a:defRPr sz="1100">
                <a:solidFill>
                  <a:srgbClr val="5A5F69"/>
                </a:solidFill>
                <a:latin typeface="Arial"/>
              </a:defRPr>
            </a:pPr>
            <a:r>
              <a:t>Author: Sthavir Sunil Punwatkar, [Project Partner 2]  |  Advisor: [Project Guide Name]</a:t>
            </a:r>
          </a:p>
          <a:p>
            <a:pPr>
              <a:spcBef>
                <a:spcPts val="400"/>
              </a:spcBef>
              <a:defRPr sz="1100">
                <a:solidFill>
                  <a:srgbClr val="5A5F69"/>
                </a:solidFill>
                <a:latin typeface="Arial"/>
              </a:defRPr>
            </a:pPr>
            <a:r>
              <a:t>Department of Computer Science &amp; Vision  |  CDAC Final Year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217920"/>
            <a:ext cx="10817352" cy="18288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800020"/>
                </a:solidFill>
                <a:latin typeface="Georgia"/>
              </a:defRPr>
            </a:pPr>
            <a:r>
              <a:t>Introduction: Presentation Attacks and End-Point Vulnerabilities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18288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A5F69"/>
                </a:solidFill>
                <a:latin typeface="Arial"/>
              </a:defRPr>
            </a:pPr>
            <a:r>
              <a:t>[1] ISO/IEC 30107-3: Information technology — Biometric presentation attack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800020"/>
                </a:solidFill>
                <a:latin typeface="Georgia"/>
              </a:defRPr>
            </a:pPr>
            <a:r>
              <a:t>The Attack Landscape</a:t>
            </a:r>
          </a:p>
          <a:p>
            <a:pPr>
              <a:spcAft>
                <a:spcPts val="10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• Presentation Attacks (PA): Access control endpoints are targeted by printed face photos and high-resolution screen loop replays.</a:t>
            </a:r>
          </a:p>
          <a:p>
            <a:pPr>
              <a:spcAft>
                <a:spcPts val="10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• Identity Swapping: Multiple users coordinate mid-session (candidate swapping) during online exams and virtual interviews.</a:t>
            </a:r>
          </a:p>
          <a:p>
            <a:pPr>
              <a:spcAft>
                <a:spcPts val="10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• Zero-Trust Requirement: Verification must run passively using standard consumer webcams without dedicated infrared depth sensors.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800020"/>
                </a:solidFill>
                <a:latin typeface="Georgia"/>
              </a:defRPr>
            </a:pPr>
            <a:r>
              <a:t>Proposed Framework Objectives</a:t>
            </a:r>
          </a:p>
          <a:p>
            <a:pPr>
              <a:spcAft>
                <a:spcPts val="8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• Under-100ms Inference: Target low latency for edge deployment.</a:t>
            </a:r>
          </a:p>
          <a:p>
            <a:pPr>
              <a:spcAft>
                <a:spcPts val="8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• Multi-Modal Verification: Parallel extraction of texture patterns, heart rate pulse (rPPG), and active behavioral checks.</a:t>
            </a:r>
          </a:p>
          <a:p>
            <a:pPr>
              <a:spcAft>
                <a:spcPts val="8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• Mathematical Score Fusion: A balanced, weight-calibrated fusion model avoiding single-point model silence.</a:t>
            </a:r>
          </a:p>
          <a:p>
            <a:pPr>
              <a:spcAft>
                <a:spcPts val="8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• Continuous Session Tracking: Interocular-normalized FaceMesh mapping to verify candidate identity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800020"/>
                </a:solidFill>
                <a:latin typeface="Georgia"/>
              </a:defRPr>
            </a:pPr>
            <a:r>
              <a:t>Methodology: System Processing Pipeline and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18288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800020"/>
                </a:solidFill>
                <a:latin typeface="Georgia"/>
              </a:defRPr>
            </a:pPr>
            <a:r>
              <a:t>⚙️ Pipeline Ingestion Stages</a:t>
            </a:r>
          </a:p>
          <a:p>
            <a:pPr>
              <a:spcAft>
                <a:spcPts val="12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1. Extraction: Frames are ingested at 30 FPS. YOLOv8 isolates facial bounding boxes.</a:t>
            </a:r>
          </a:p>
          <a:p>
            <a:pPr>
              <a:spcAft>
                <a:spcPts val="12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2. Quality Check: Blurry, dark, or occluded frames are rejected early to reduce backend inference load.</a:t>
            </a:r>
          </a:p>
          <a:p>
            <a:pPr>
              <a:spcAft>
                <a:spcPts val="12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3. Features: Texture, physiology, and behavioral models compute independent liveness values.</a:t>
            </a:r>
          </a:p>
          <a:p>
            <a:pPr>
              <a:spcAft>
                <a:spcPts val="1200"/>
              </a:spcAft>
              <a:defRPr sz="1150">
                <a:solidFill>
                  <a:srgbClr val="5A5F69"/>
                </a:solidFill>
                <a:latin typeface="Arial"/>
              </a:defRPr>
            </a:pPr>
            <a:r>
              <a:t>4. Verdict: Weighted scores converge to output a final liveness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188720"/>
            <a:ext cx="2011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02147"/>
                </a:solidFill>
                <a:latin typeface="Arial"/>
              </a:defRPr>
            </a:pPr>
            <a:r>
              <a:t>Video Ingestion (30 FPS)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0" y="1554480"/>
            <a:ext cx="0" cy="18288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66560" y="1737360"/>
            <a:ext cx="2011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02147"/>
                </a:solidFill>
                <a:latin typeface="Arial"/>
              </a:defRPr>
            </a:pPr>
            <a:r>
              <a:t>YOLOv8-Face Extractor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0" y="2103120"/>
            <a:ext cx="0" cy="18288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66560" y="2286000"/>
            <a:ext cx="2011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02147"/>
                </a:solidFill>
                <a:latin typeface="Arial"/>
              </a:defRPr>
            </a:pPr>
            <a:r>
              <a:t>Signal Quality Filtering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834640"/>
            <a:ext cx="62179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3017520"/>
            <a:ext cx="1645920" cy="1097280"/>
          </a:xfrm>
          <a:prstGeom prst="roundRect">
            <a:avLst/>
          </a:prstGeom>
          <a:solidFill>
            <a:srgbClr val="80002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Texture 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017520"/>
            <a:ext cx="1645920" cy="1097280"/>
          </a:xfrm>
          <a:prstGeom prst="roundRect">
            <a:avLst/>
          </a:prstGeom>
          <a:solidFill>
            <a:srgbClr val="80002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Physiology (rPPG)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017520"/>
            <a:ext cx="1645920" cy="1097280"/>
          </a:xfrm>
          <a:prstGeom prst="roundRect">
            <a:avLst/>
          </a:prstGeom>
          <a:solidFill>
            <a:srgbClr val="800020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Behavioral Challenge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2651760"/>
            <a:ext cx="0" cy="36576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760720" y="2651760"/>
            <a:ext cx="2011680" cy="365760"/>
          </a:xfrm>
          <a:prstGeom prst="bentConnector3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0" y="2651760"/>
            <a:ext cx="2011680" cy="365760"/>
          </a:xfrm>
          <a:prstGeom prst="bentConnector3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66560" y="4663440"/>
            <a:ext cx="2011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02147"/>
                </a:solidFill>
                <a:latin typeface="Arial"/>
              </a:defRPr>
            </a:pPr>
            <a:r>
              <a:t>Weighted Decision Fusion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20" y="4114800"/>
            <a:ext cx="2011680" cy="548640"/>
          </a:xfrm>
          <a:prstGeom prst="bentConnector3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0" y="4114800"/>
            <a:ext cx="0" cy="54864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772400" y="4114800"/>
            <a:ext cx="2011680" cy="548640"/>
          </a:xfrm>
          <a:prstGeom prst="bentConnector3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66560" y="5212080"/>
            <a:ext cx="2011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002147"/>
                </a:solidFill>
                <a:latin typeface="Arial"/>
              </a:defRPr>
            </a:pPr>
            <a:r>
              <a:t>Linear Decision Threshold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5577840"/>
            <a:ext cx="0" cy="18288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66560" y="5760720"/>
            <a:ext cx="2011680" cy="365760"/>
          </a:xfrm>
          <a:prstGeom prst="roundRect">
            <a:avLst/>
          </a:prstGeom>
          <a:solidFill>
            <a:srgbClr val="00214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Output Verdict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800020"/>
                </a:solidFill>
                <a:latin typeface="Georgia"/>
              </a:defRPr>
            </a:pPr>
            <a:r>
              <a:t>Methodology: Core Verification Framework and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18288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400" b="1">
                <a:solidFill>
                  <a:srgbClr val="800020"/>
                </a:solidFill>
                <a:latin typeface="Georgia"/>
              </a:defRPr>
            </a:pPr>
            <a:r>
              <a:t>1. Passive Texture Analysis</a:t>
            </a:r>
          </a:p>
          <a:p>
            <a:pPr>
              <a:spcAft>
                <a:spcPts val="1200"/>
              </a:spcAft>
              <a:defRPr sz="900" b="1">
                <a:solidFill>
                  <a:srgbClr val="002147"/>
                </a:solidFill>
                <a:latin typeface="Arial"/>
              </a:defRPr>
            </a:pPr>
            <a:r>
              <a:t>SPATIAL TEXTURES</a:t>
            </a:r>
          </a:p>
          <a:p>
            <a:pPr>
              <a:spcBef>
                <a:spcPts val="500"/>
              </a:spcBef>
              <a:defRPr sz="1150">
                <a:solidFill>
                  <a:srgbClr val="5A5F69"/>
                </a:solidFill>
                <a:latin typeface="Arial"/>
              </a:defRPr>
            </a:pPr>
            <a:r>
              <a:t>MiniFASNet CNN classification parsing high-frequency surface patterns to detect print paper/screen structures.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400" b="1">
                <a:solidFill>
                  <a:srgbClr val="800020"/>
                </a:solidFill>
                <a:latin typeface="Georgia"/>
              </a:defRPr>
            </a:pPr>
            <a:r>
              <a:t>2. Physiological rPPG</a:t>
            </a:r>
          </a:p>
          <a:p>
            <a:pPr>
              <a:spcAft>
                <a:spcPts val="1200"/>
              </a:spcAft>
              <a:defRPr sz="900" b="1">
                <a:solidFill>
                  <a:srgbClr val="002147"/>
                </a:solidFill>
                <a:latin typeface="Arial"/>
              </a:defRPr>
            </a:pPr>
            <a:r>
              <a:t>HEART RATE PULSE</a:t>
            </a:r>
          </a:p>
          <a:p>
            <a:pPr>
              <a:spcBef>
                <a:spcPts val="500"/>
              </a:spcBef>
              <a:defRPr sz="1150">
                <a:solidFill>
                  <a:srgbClr val="5A5F69"/>
                </a:solidFill>
                <a:latin typeface="Arial"/>
              </a:defRPr>
            </a:pPr>
            <a:r>
              <a:t>3D spatio-temporal CNN extracting cardiac micro-signals from skin color shifts to verify living tissue.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400" b="1">
                <a:solidFill>
                  <a:srgbClr val="800020"/>
                </a:solidFill>
                <a:latin typeface="Georgia"/>
              </a:defRPr>
            </a:pPr>
            <a:r>
              <a:t>3. Active Behavioral Checks</a:t>
            </a:r>
          </a:p>
          <a:p>
            <a:pPr>
              <a:spcAft>
                <a:spcPts val="1200"/>
              </a:spcAft>
              <a:defRPr sz="900" b="1">
                <a:solidFill>
                  <a:srgbClr val="002147"/>
                </a:solidFill>
                <a:latin typeface="Arial"/>
              </a:defRPr>
            </a:pPr>
            <a:r>
              <a:t>CHALLENGE ACTIONS</a:t>
            </a:r>
          </a:p>
          <a:p>
            <a:pPr>
              <a:spcBef>
                <a:spcPts val="500"/>
              </a:spcBef>
              <a:defRPr sz="1150">
                <a:solidFill>
                  <a:srgbClr val="5A5F69"/>
                </a:solidFill>
                <a:latin typeface="Arial"/>
              </a:defRPr>
            </a:pPr>
            <a:r>
              <a:t>Randomized directives (Blink, Turn, Smile) validated dynamically to establish immediate user cooperation.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645920"/>
            <a:ext cx="2468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sz="1400" b="1">
                <a:solidFill>
                  <a:srgbClr val="800020"/>
                </a:solidFill>
                <a:latin typeface="Georgia"/>
              </a:defRPr>
            </a:pPr>
            <a:r>
              <a:t>4. Temporal Validation</a:t>
            </a:r>
          </a:p>
          <a:p>
            <a:pPr>
              <a:spcAft>
                <a:spcPts val="1200"/>
              </a:spcAft>
              <a:defRPr sz="900" b="1">
                <a:solidFill>
                  <a:srgbClr val="002147"/>
                </a:solidFill>
                <a:latin typeface="Arial"/>
              </a:defRPr>
            </a:pPr>
            <a:r>
              <a:t>TEMPORAL CUTS</a:t>
            </a:r>
          </a:p>
          <a:p>
            <a:pPr>
              <a:spcBef>
                <a:spcPts val="500"/>
              </a:spcBef>
              <a:defRPr sz="1150">
                <a:solidFill>
                  <a:srgbClr val="5A5F69"/>
                </a:solidFill>
                <a:latin typeface="Arial"/>
              </a:defRPr>
            </a:pPr>
            <a:r>
              <a:t>Time-series integrity checking to trace jump-cuts and confirm time sync between challenge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800020"/>
                </a:solidFill>
                <a:latin typeface="Georgia"/>
              </a:defRPr>
            </a:pPr>
            <a:r>
              <a:t>Results: Performance Benchmarks and ISO Standard Metrics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18288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A5F69"/>
                </a:solidFill>
                <a:latin typeface="Arial"/>
              </a:defRPr>
            </a:pPr>
            <a:r>
              <a:t>[2] Benchmarked on unified subsets of CASIA-FASD and CelebA-Spoof (10,000+ total frames).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6304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 Parameter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SHIELD Score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APCER (Attack Presentation Error 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147"/>
                          </a:solidFill>
                          <a:latin typeface="Arial"/>
                        </a:defRPr>
                      </a:pPr>
                      <a: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BPCER (Bona Fide Presentation Error Rate)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147"/>
                          </a:solidFill>
                          <a:latin typeface="Arial"/>
                        </a:defRPr>
                      </a:pPr>
                      <a:r>
                        <a:t>0.8%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ACER (Average Classification Error 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147"/>
                          </a:solidFill>
                          <a:latin typeface="Arial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End-to-End Latency (Single Frame)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147"/>
                          </a:solidFill>
                          <a:latin typeface="Arial"/>
                        </a:defRPr>
                      </a:pPr>
                      <a:r>
                        <a:t>85 ms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3716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800020"/>
                </a:solidFill>
                <a:latin typeface="Georgia"/>
              </a:defRPr>
            </a:pPr>
            <a:r>
              <a:t>📊 Experimental Evaluation &amp; Optimization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APCER: measures security strength (spoof attacks classified as live).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BPCER: measures user convenience (genuine users flagged as spoofs).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ACER: average error indicator: ACER = (APCER + BPCER) / 2.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Optimization Setup: Dynamic weights calibration via 1,771 parametric test iterations to guarantee robust balanced fusion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800020"/>
                </a:solidFill>
                <a:latin typeface="Georgia"/>
              </a:defRPr>
            </a:pPr>
            <a:r>
              <a:t>Technical Novelties: Scale-Invariant Landmarks and Preprocessing Noise Defenses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18288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A5F69"/>
                </a:solidFill>
                <a:latin typeface="Arial"/>
              </a:defRPr>
            </a:pPr>
            <a:r>
              <a:t>[3] Punwatkar et al. (2026) Scale-Invariant Geometry Trajectories on Facial Landmark Meshes.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800020"/>
                </a:solidFill>
                <a:latin typeface="Georgia"/>
              </a:defRPr>
            </a:pPr>
            <a:r>
              <a:t>1. Scale-Invariant Geometric Identity Tracking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Protects session integrity against mid-session candidate swapping (tag-team spoofing):</a:t>
            </a:r>
            <a:br/>
            <a:r>
              <a:t>• Extracts scale-invariant 4D facial landmarks (eyes, nose, mouth, chin) from MediaPipe FaceMesh.</a:t>
            </a:r>
            <a:br/>
            <a:r>
              <a:t>• Normalizes distance parameters by interocular separation, providing distance-invariant verification. Instantly closes WebSocket connections if signature drift exceeds 0.20.</a:t>
            </a:r>
          </a:p>
          <a:p>
            <a:pPr>
              <a:spcBef>
                <a:spcPts val="1200"/>
              </a:spcBef>
              <a:defRPr sz="1600" b="1">
                <a:solidFill>
                  <a:srgbClr val="800020"/>
                </a:solidFill>
                <a:latin typeface="Georgia"/>
              </a:defRPr>
            </a:pPr>
            <a:r>
              <a:t>2. Adversarial Noise Preprocessing Defense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Integrates compression filters into the face crop step to cancel out high-frequency adversarial camera noise.</a:t>
            </a:r>
          </a:p>
          <a:p>
            <a:pPr>
              <a:spcBef>
                <a:spcPts val="1200"/>
              </a:spcBef>
              <a:defRPr sz="1600" b="1">
                <a:solidFill>
                  <a:srgbClr val="800020"/>
                </a:solidFill>
                <a:latin typeface="Georgia"/>
              </a:defRPr>
            </a:pPr>
            <a:r>
              <a:t>3. Systematic Score Fusion Weight Tuning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  <a:latin typeface="Arial"/>
              </a:defRPr>
            </a:pPr>
            <a:r>
              <a:t>• Used mathematical grid-search over 1,771 parameter splits to eliminate model silence and optimize fusion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800020"/>
                </a:solidFill>
                <a:latin typeface="Georgia"/>
              </a:defRPr>
            </a:pPr>
            <a:r>
              <a:t>Deployment: Real-Time Ingestion and Flutter Telemetry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10817352" cy="18288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800020"/>
                </a:solidFill>
                <a:latin typeface="Georgia"/>
              </a:defRPr>
            </a:pPr>
            <a:r>
              <a:t>📱 Interactive Flutter Telemetry Dashboard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Quality Telemetry Guide: Interactive oval frame changing colors dynamically based on real-time quality parameters (Blur, Exposure, Pose).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Explainable Biometrics: Displays clear confidence breakdowns for texture, biological rPPG, and active challenge scores in real-time.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Secure Ingestion Gateway: Informs user of capture instructions prior to starting high-stakes verification 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002147"/>
                </a:solidFill>
                <a:latin typeface="Georgia"/>
              </a:defRPr>
            </a:pPr>
            <a:r>
              <a:t>🎥 Live Demonstration Protocol</a:t>
            </a:r>
          </a:p>
          <a:p>
            <a:pPr>
              <a:spcBef>
                <a:spcPts val="500"/>
              </a:spcBef>
              <a:defRPr sz="1200">
                <a:solidFill>
                  <a:srgbClr val="212529"/>
                </a:solidFill>
                <a:latin typeface="Arial"/>
              </a:defRPr>
            </a:pPr>
            <a:r>
              <a:t>Websocket-based real-time capture and verification pipeline:</a:t>
            </a:r>
            <a:br/>
            <a:r>
              <a:t>1. Active Verification: Core session starts, requesting random user movements.</a:t>
            </a:r>
            <a:br/>
            <a:r>
              <a:t>2. Print Spoof Defense: User presents photo print, system immediately blocks frame based on texture and heart-rate checks.</a:t>
            </a:r>
            <a:br/>
            <a:r>
              <a:t>3. Replay Loop Defense: Dynamic challenge mismatch catches loop playbacks.</a:t>
            </a:r>
            <a:br/>
            <a:r>
              <a:t>4. Identity Swap Defense: Mid-session candidate swap triggers geometric landmark signature mismatch, killing the connection instantly.</a:t>
            </a:r>
            <a:br/>
            <a:br/>
            <a:r>
              <a:t>Execution logs and test coverage verify the robust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