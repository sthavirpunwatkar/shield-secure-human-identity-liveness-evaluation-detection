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212080" cy="5303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200" b="1">
                <a:solidFill>
                  <a:srgbClr val="141821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600"/>
              </a:spcBef>
              <a:defRPr sz="1500" b="1">
                <a:solidFill>
                  <a:srgbClr val="0066CC"/>
                </a:solidFill>
                <a:latin typeface="Arial"/>
              </a:defRPr>
            </a:pPr>
            <a:r>
              <a:t>Multimodal Real-Time Biometric Liveness &amp; Identity Verification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3C404B"/>
                </a:solidFill>
                <a:latin typeface="Arial"/>
              </a:defRPr>
            </a:pPr>
            <a:r>
              <a:t>Project Partners: Sthavir Sunil Punwatkar, [Project Partner 2]</a:t>
            </a:r>
          </a:p>
          <a:p>
            <a:pPr>
              <a:spcBef>
                <a:spcPts val="300"/>
              </a:spcBef>
              <a:defRPr sz="1150" b="1">
                <a:solidFill>
                  <a:srgbClr val="3C404B"/>
                </a:solidFill>
                <a:latin typeface="Arial"/>
              </a:defRPr>
            </a:pPr>
            <a:r>
              <a:t>Project Guide: [Project Guide Name]</a:t>
            </a:r>
          </a:p>
          <a:p>
            <a:pPr>
              <a:spcBef>
                <a:spcPts val="500"/>
              </a:spcBef>
              <a:defRPr sz="1150">
                <a:solidFill>
                  <a:srgbClr val="6E737D"/>
                </a:solidFill>
                <a:latin typeface="Arial"/>
              </a:defRPr>
            </a:pPr>
            <a:r>
              <a:t>CDAC Project Review  |  Domain: Biometrics &amp; Computer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17520"/>
            <a:ext cx="5029200" cy="329184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500" b="1">
                <a:solidFill>
                  <a:srgbClr val="0066CC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Bef>
                <a:spcPts val="600"/>
              </a:spcBef>
              <a:defRPr sz="1100">
                <a:solidFill>
                  <a:srgbClr val="3C404B"/>
                </a:solidFill>
                <a:latin typeface="Arial"/>
              </a:defRPr>
            </a:pPr>
            <a:r>
              <a:t>Remote biometric systems face vulnerabilities to spoofing:</a:t>
            </a:r>
            <a:br/>
            <a:r>
              <a:t>• Presentation Attacks (PA): Static photo prints, video loop replays, and 3D masks deceive traditional facial recognition.</a:t>
            </a:r>
            <a:br/>
            <a:r>
              <a:t>• Identity Swapping: User swaps mid-session (tag-team cheating) during active testing or authentication.</a:t>
            </a:r>
            <a:br/>
            <a:r>
              <a:t>• Deployment Limits: Existing anti-spoofing methods require specialized depth hardware, rendering wide scale deployments impractical.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41821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66CC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41821"/>
                </a:solidFill>
                <a:latin typeface="Arial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0066CC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0066CC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0066CC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41821"/>
                </a:solidFill>
                <a:latin typeface="Arial"/>
              </a:defRPr>
            </a:pPr>
            <a:r>
              <a:t>System Architecture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066CC"/>
                </a:solidFill>
                <a:latin typeface="Arial"/>
              </a:defRPr>
            </a:pPr>
            <a:r>
              <a:t>⚙️ Modular Data Pipeline</a:t>
            </a:r>
          </a:p>
          <a:p>
            <a:pPr>
              <a:spcAft>
                <a:spcPts val="10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• A modular layer architecture styled after high-performance neural blocks (like Transformer stacks).</a:t>
            </a:r>
          </a:p>
          <a:p>
            <a:pPr>
              <a:spcAft>
                <a:spcPts val="10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• Frames pass sequentially through detection, validation, and quality gates before running parallel inferences.</a:t>
            </a:r>
          </a:p>
          <a:p>
            <a:pPr>
              <a:spcAft>
                <a:spcPts val="10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• Texture (Spatial), Physiology (Biological BVP), and Challenge (Temporal Actions) operate as distinct pipelines.</a:t>
            </a:r>
          </a:p>
          <a:p>
            <a:pPr>
              <a:spcAft>
                <a:spcPts val="1000"/>
              </a:spcAft>
              <a:defRPr sz="1200">
                <a:solidFill>
                  <a:srgbClr val="3C404B"/>
                </a:solidFill>
                <a:latin typeface="Arial"/>
              </a:defRPr>
            </a:pPr>
            <a:r>
              <a:t>• Decision Fusion acts as the linear convergence layer to calculate output probabilities.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005840"/>
            <a:ext cx="2011680" cy="36576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Video Frames (BGR stream)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0" y="1371600"/>
            <a:ext cx="0" cy="182880"/>
          </a:xfrm>
          <a:prstGeom prst="line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766560" y="1554480"/>
            <a:ext cx="2011680" cy="3657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YOLOv8-Face Detection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0" y="1920240"/>
            <a:ext cx="0" cy="182880"/>
          </a:xfrm>
          <a:prstGeom prst="line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766560" y="2103120"/>
            <a:ext cx="2011680" cy="365760"/>
          </a:xfrm>
          <a:prstGeom prst="roundRect">
            <a:avLst/>
          </a:prstGeom>
          <a:solidFill>
            <a:srgbClr val="FFFDE7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Signal Quality Filter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651760"/>
            <a:ext cx="6217920" cy="1645920"/>
          </a:xfrm>
          <a:prstGeom prst="roundRect">
            <a:avLst/>
          </a:prstGeom>
          <a:solidFill>
            <a:srgbClr val="F5F6F8"/>
          </a:solidFill>
          <a:ln w="1905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3200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66CC"/>
                </a:solidFill>
                <a:latin typeface="Arial"/>
              </a:defRPr>
            </a:pPr>
            <a:r>
              <a:t>3x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Passive Texture 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Physiological rPPG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Active Challenges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2468880"/>
            <a:ext cx="0" cy="365760"/>
          </a:xfrm>
          <a:prstGeom prst="line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760720" y="2468880"/>
            <a:ext cx="2011680" cy="365760"/>
          </a:xfrm>
          <a:prstGeom prst="bentConnector3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72400" y="2468880"/>
            <a:ext cx="2011680" cy="365760"/>
          </a:xfrm>
          <a:prstGeom prst="bentConnector3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66560" y="4480560"/>
            <a:ext cx="2011680" cy="365760"/>
          </a:xfrm>
          <a:prstGeom prst="roundRect">
            <a:avLst/>
          </a:prstGeom>
          <a:solidFill>
            <a:srgbClr val="FFFDE7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Weighted Decision 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3931920"/>
            <a:ext cx="2011680" cy="548640"/>
          </a:xfrm>
          <a:prstGeom prst="bentConnector3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72400" y="3931920"/>
            <a:ext cx="0" cy="548640"/>
          </a:xfrm>
          <a:prstGeom prst="line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772400" y="3931920"/>
            <a:ext cx="2011680" cy="548640"/>
          </a:xfrm>
          <a:prstGeom prst="bentConnector3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66560" y="5029200"/>
            <a:ext cx="2011680" cy="36576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Linear Decision Threshold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0" y="5394960"/>
            <a:ext cx="0" cy="182880"/>
          </a:xfrm>
          <a:prstGeom prst="line">
            <a:avLst/>
          </a:prstGeom>
          <a:ln w="15240">
            <a:solidFill>
              <a:srgbClr val="A0A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766560" y="5577840"/>
            <a:ext cx="2011680" cy="3657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3C3C3C"/>
                </a:solidFill>
                <a:latin typeface="Arial"/>
              </a:defRPr>
            </a:pPr>
            <a:r>
              <a:t>Output Verdict (Live/Spoof)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41821"/>
                </a:solidFill>
                <a:latin typeface="Arial"/>
              </a:defRPr>
            </a:pPr>
            <a:r>
              <a:t>Multimodal Verification Pillars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141821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200"/>
              </a:spcAft>
              <a:defRPr sz="900" b="1">
                <a:solidFill>
                  <a:srgbClr val="0066CC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3C404B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141821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200"/>
              </a:spcAft>
              <a:defRPr sz="900" b="1">
                <a:solidFill>
                  <a:srgbClr val="0066CC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3C404B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141821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200"/>
              </a:spcAft>
              <a:defRPr sz="900" b="1">
                <a:solidFill>
                  <a:srgbClr val="0066CC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3C404B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141821"/>
                </a:solidFill>
                <a:latin typeface="Arial"/>
              </a:defRPr>
            </a:pPr>
            <a:r>
              <a:t>4. Temporal Validator</a:t>
            </a:r>
          </a:p>
          <a:p>
            <a:pPr>
              <a:spcAft>
                <a:spcPts val="1200"/>
              </a:spcAft>
              <a:defRPr sz="900" b="1">
                <a:solidFill>
                  <a:srgbClr val="0066CC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3C404B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212080" cy="5303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41821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66CC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66CC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404B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821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404B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821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404B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821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404B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1821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38328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066CC"/>
                </a:solidFill>
                <a:latin typeface="Arial"/>
              </a:defRPr>
            </a:pPr>
            <a:r>
              <a:t>📊 ISO/IEC 30107-3 Standard Metrics</a:t>
            </a:r>
          </a:p>
          <a:p>
            <a:pPr>
              <a:spcAft>
                <a:spcPts val="400"/>
              </a:spcAft>
              <a:defRPr sz="1050">
                <a:solidFill>
                  <a:srgbClr val="3C404B"/>
                </a:solidFill>
                <a:latin typeface="Arial"/>
              </a:defRPr>
            </a:pPr>
            <a:r>
              <a:t>• APCER: Attack Presentation Classification Error Rate. Measures the % of spoof attacks incorrectly classified as live.</a:t>
            </a:r>
          </a:p>
          <a:p>
            <a:pPr>
              <a:spcAft>
                <a:spcPts val="400"/>
              </a:spcAft>
              <a:defRPr sz="1050">
                <a:solidFill>
                  <a:srgbClr val="3C404B"/>
                </a:solidFill>
                <a:latin typeface="Arial"/>
              </a:defRPr>
            </a:pPr>
            <a:r>
              <a:t>• BPCER: Bona Fide Presentation Classification Error Rate. Measures the % of genuine live users incorrectly flagged as spoofs.</a:t>
            </a:r>
          </a:p>
          <a:p>
            <a:pPr>
              <a:spcAft>
                <a:spcPts val="400"/>
              </a:spcAft>
              <a:defRPr sz="1050">
                <a:solidFill>
                  <a:srgbClr val="3C404B"/>
                </a:solidFill>
                <a:latin typeface="Arial"/>
              </a:defRPr>
            </a:pPr>
            <a:r>
              <a:t>• ACER: Average Classification Error Rate. Calculated as the average of APCER and BPCER: ACER = (APCER + BPCER) / 2.</a:t>
            </a:r>
          </a:p>
          <a:p>
            <a:pPr>
              <a:spcAft>
                <a:spcPts val="400"/>
              </a:spcAft>
              <a:defRPr sz="1050">
                <a:solidFill>
                  <a:srgbClr val="3C404B"/>
                </a:solidFill>
                <a:latin typeface="Arial"/>
              </a:defRPr>
            </a:pPr>
            <a:r>
              <a:t>• Empirical Calibration: System weights tuned via 1,771 test combinations under min_weight=0.10 constraint to achieve 1.0% ACER.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212080" cy="5303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41821"/>
                </a:solidFill>
                <a:latin typeface="Arial"/>
              </a:defRPr>
            </a:pPr>
            <a:r>
              <a:t>Novelty &amp; Custom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0066CC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3C404B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0066CC"/>
                </a:solidFill>
                <a:latin typeface="Arial"/>
              </a:defRPr>
            </a:pPr>
            <a:r>
              <a:t>2. JPEG Compression Defenses</a:t>
            </a:r>
          </a:p>
          <a:p>
            <a:pPr>
              <a:spcAft>
                <a:spcPts val="600"/>
              </a:spcAft>
              <a:defRPr sz="1100">
                <a:solidFill>
                  <a:srgbClr val="3C404B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800"/>
              </a:spcBef>
              <a:defRPr sz="1400" b="1">
                <a:solidFill>
                  <a:srgbClr val="0066CC"/>
                </a:solidFill>
                <a:latin typeface="Arial"/>
              </a:defRPr>
            </a:pPr>
            <a:r>
              <a:t>3. Systematic Grid Search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3C404B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41821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141821"/>
                </a:solidFill>
                <a:latin typeface="Arial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3C404B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66CC"/>
                </a:solidFill>
                <a:latin typeface="Arial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3C404B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