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hield_cover_visual_178318517099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274320"/>
            <a:ext cx="502920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Arial"/>
              </a:defRPr>
            </a:pPr>
            <a:r>
              <a:t>SHIELD</a:t>
            </a:r>
          </a:p>
          <a:p>
            <a:pPr>
              <a:spcBef>
                <a:spcPts val="400"/>
              </a:spcBef>
              <a:defRPr sz="1400" b="1">
                <a:solidFill>
                  <a:srgbClr val="8A2BE2"/>
                </a:solidFill>
                <a:latin typeface="Arial"/>
              </a:defRPr>
            </a:pPr>
            <a:r>
              <a:t>Multimodal Real-Time Biometric Liveness &amp; Identity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5029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8C8DC"/>
                </a:solidFill>
                <a:latin typeface="Arial"/>
              </a:defRPr>
            </a:pPr>
            <a:r>
              <a:t>Project Partners: Sthavir Sunil Punwatkar, [Project Partner 2]</a:t>
            </a:r>
          </a:p>
          <a:p>
            <a:pPr>
              <a:spcBef>
                <a:spcPts val="300"/>
              </a:spcBef>
              <a:defRPr sz="1100" b="1">
                <a:solidFill>
                  <a:srgbClr val="C8C8DC"/>
                </a:solidFill>
                <a:latin typeface="Arial"/>
              </a:defRPr>
            </a:pPr>
            <a:r>
              <a:t>Project Guide: [Project Guide Name]</a:t>
            </a:r>
          </a:p>
          <a:p>
            <a:pPr>
              <a:spcBef>
                <a:spcPts val="500"/>
              </a:spcBef>
              <a:defRPr sz="1100">
                <a:solidFill>
                  <a:srgbClr val="827896"/>
                </a:solidFill>
                <a:latin typeface="Arial"/>
              </a:defRPr>
            </a:pPr>
            <a:r>
              <a:t>CDAC Project Review  |  Domain: Biometrics &amp; Computer Vision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926080"/>
            <a:ext cx="5029200" cy="3383280"/>
          </a:xfrm>
          <a:prstGeom prst="roundRect">
            <a:avLst/>
          </a:prstGeom>
          <a:solidFill>
            <a:srgbClr val="181622"/>
          </a:solidFill>
          <a:ln w="12700">
            <a:solidFill>
              <a:srgbClr val="3C3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defRPr sz="1400" b="1">
                <a:solidFill>
                  <a:srgbClr val="8A2BE2"/>
                </a:solidFill>
                <a:latin typeface="Arial"/>
              </a:defRPr>
            </a:pPr>
            <a:r>
              <a:t>SITUATION &amp; COMPLICATION</a:t>
            </a:r>
          </a:p>
          <a:p>
            <a:pPr>
              <a:spcBef>
                <a:spcPts val="600"/>
              </a:spcBef>
              <a:defRPr sz="1050">
                <a:solidFill>
                  <a:srgbClr val="C8C8DC"/>
                </a:solidFill>
                <a:latin typeface="Arial"/>
              </a:defRPr>
            </a:pPr>
            <a:r>
              <a:t>• Context: Remote high-stakes evaluations (exams, interviews) rely on standard 2D webcams for candidate authentication.</a:t>
            </a:r>
            <a:br/>
            <a:r>
              <a:t>• Complication: Traditional facial recognition is bypassed by presentation attacks (printed photos, video replay screens) and mid-session identity swapping.</a:t>
            </a:r>
            <a:br/>
            <a:r>
              <a:t>• Resolution: SHIELD introduces a unified real-time framework integrating facial texture patterns, physiological cardiac pulse (rPPG), and active behavioral challenges.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0040"/>
            <a:ext cx="10817352" cy="914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200" b="1">
                <a:solidFill>
                  <a:srgbClr val="8A2BE2"/>
                </a:solidFill>
                <a:latin typeface="Arial"/>
              </a:defRPr>
            </a:pPr>
            <a:r>
              <a:t>Objectives: Establishing a Standard-Compliant, Low-Latency Defense for Remote Identity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8A2BE2"/>
                </a:solidFill>
                <a:latin typeface="Arial"/>
              </a:defRPr>
            </a:pPr>
            <a:r>
              <a:t>🎯 Core Objectives</a:t>
            </a:r>
          </a:p>
          <a:p>
            <a:pPr>
              <a:spcAft>
                <a:spcPts val="1200"/>
              </a:spcAft>
              <a:defRPr sz="1300">
                <a:solidFill>
                  <a:srgbClr val="C8C8DC"/>
                </a:solidFill>
                <a:latin typeface="Arial"/>
              </a:defRPr>
            </a:pPr>
            <a:r>
              <a:t>• Develop an end-to-end, real-time liveness pipeline processing multi-layered verification streams in &lt;100ms.</a:t>
            </a:r>
          </a:p>
          <a:p>
            <a:pPr>
              <a:spcAft>
                <a:spcPts val="1200"/>
              </a:spcAft>
              <a:defRPr sz="1300">
                <a:solidFill>
                  <a:srgbClr val="C8C8DC"/>
                </a:solidFill>
                <a:latin typeface="Arial"/>
              </a:defRPr>
            </a:pPr>
            <a:r>
              <a:t>• Implement non-intrusive biological checks by extracting blood volume pulse (BVP) from standard RGB video feeds (rPPG).</a:t>
            </a:r>
          </a:p>
          <a:p>
            <a:pPr>
              <a:spcAft>
                <a:spcPts val="1200"/>
              </a:spcAft>
              <a:defRPr sz="1300">
                <a:solidFill>
                  <a:srgbClr val="C8C8DC"/>
                </a:solidFill>
                <a:latin typeface="Arial"/>
              </a:defRPr>
            </a:pPr>
            <a:r>
              <a:t>• Introduce randomized active challenge-response tasks combined with frame validation to counter pre-recorded replays.</a:t>
            </a:r>
          </a:p>
          <a:p>
            <a:pPr>
              <a:spcAft>
                <a:spcPts val="1200"/>
              </a:spcAft>
              <a:defRPr sz="1300">
                <a:solidFill>
                  <a:srgbClr val="C8C8DC"/>
                </a:solidFill>
                <a:latin typeface="Arial"/>
              </a:defRPr>
            </a:pPr>
            <a:r>
              <a:t>• Construct an explainable multi-modal decision fusion engine to facilitate detailed audit trails.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37160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FFFFFF"/>
                </a:solidFill>
                <a:latin typeface="Arial"/>
              </a:defRPr>
            </a:pPr>
            <a:r>
              <a:t>⚙️ Engineering Targets &amp; KPIs</a:t>
            </a:r>
          </a:p>
          <a:p>
            <a:pPr>
              <a:spcBef>
                <a:spcPts val="800"/>
              </a:spcBef>
              <a:defRPr sz="1400" b="1">
                <a:solidFill>
                  <a:srgbClr val="8A2BE2"/>
                </a:solidFill>
                <a:latin typeface="Arial"/>
              </a:defRPr>
            </a:pPr>
            <a:r>
              <a:t>▪️ ISO/IEC 30107-3 Standard Adherence</a:t>
            </a:r>
          </a:p>
          <a:p>
            <a:pPr>
              <a:spcAft>
                <a:spcPts val="600"/>
              </a:spcAft>
              <a:defRPr sz="1200">
                <a:solidFill>
                  <a:srgbClr val="C8C8DC"/>
                </a:solidFill>
                <a:latin typeface="Arial"/>
              </a:defRPr>
            </a:pPr>
            <a:r>
              <a:t>Deliver an ACER (Average Classification Error Rate) under 1.5% to verify enterprise-level security.</a:t>
            </a:r>
          </a:p>
          <a:p>
            <a:pPr>
              <a:spcBef>
                <a:spcPts val="800"/>
              </a:spcBef>
              <a:defRPr sz="1400" b="1">
                <a:solidFill>
                  <a:srgbClr val="8A2BE2"/>
                </a:solidFill>
                <a:latin typeface="Arial"/>
              </a:defRPr>
            </a:pPr>
            <a:r>
              <a:t>▪️ Edge-Deployable Performance</a:t>
            </a:r>
          </a:p>
          <a:p>
            <a:pPr>
              <a:spcAft>
                <a:spcPts val="600"/>
              </a:spcAft>
              <a:defRPr sz="1200">
                <a:solidFill>
                  <a:srgbClr val="C8C8DC"/>
                </a:solidFill>
                <a:latin typeface="Arial"/>
              </a:defRPr>
            </a:pPr>
            <a:r>
              <a:t>Optimize inference workloads to support execution in under 100ms on consumer-grade CPUs.</a:t>
            </a:r>
          </a:p>
          <a:p>
            <a:pPr>
              <a:spcBef>
                <a:spcPts val="800"/>
              </a:spcBef>
              <a:defRPr sz="1400" b="1">
                <a:solidFill>
                  <a:srgbClr val="8A2BE2"/>
                </a:solidFill>
                <a:latin typeface="Arial"/>
              </a:defRPr>
            </a:pPr>
            <a:r>
              <a:t>▪️ Zero-Dependency RGB Deployment</a:t>
            </a:r>
          </a:p>
          <a:p>
            <a:pPr>
              <a:spcAft>
                <a:spcPts val="600"/>
              </a:spcAft>
              <a:defRPr sz="1200">
                <a:solidFill>
                  <a:srgbClr val="C8C8DC"/>
                </a:solidFill>
                <a:latin typeface="Arial"/>
              </a:defRPr>
            </a:pPr>
            <a:r>
              <a:t>Perform biological, texture, and active checks using simple 2D webcams without dedicated sensors.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0040"/>
            <a:ext cx="10817352" cy="914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200" b="1">
                <a:solidFill>
                  <a:srgbClr val="8A2BE2"/>
                </a:solidFill>
                <a:latin typeface="Arial"/>
              </a:defRPr>
            </a:pPr>
            <a:r>
              <a:t>Architecture: Multi-Tiered Verification Processing Raw Webcam Frames to Final Score Fusion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3840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8A2BE2"/>
                </a:solidFill>
                <a:latin typeface="Arial"/>
              </a:defRPr>
            </a:pPr>
            <a:r>
              <a:t>⚙️ Modular Data Pipeline</a:t>
            </a:r>
          </a:p>
          <a:p>
            <a:pPr>
              <a:spcAft>
                <a:spcPts val="1000"/>
              </a:spcAft>
              <a:defRPr sz="1200">
                <a:solidFill>
                  <a:srgbClr val="C8C8DC"/>
                </a:solidFill>
                <a:latin typeface="Arial"/>
              </a:defRPr>
            </a:pPr>
            <a:r>
              <a:t>• A modular layer architecture styled after high-performance neural blocks (like Transformer stacks).</a:t>
            </a:r>
          </a:p>
          <a:p>
            <a:pPr>
              <a:spcAft>
                <a:spcPts val="1000"/>
              </a:spcAft>
              <a:defRPr sz="1200">
                <a:solidFill>
                  <a:srgbClr val="C8C8DC"/>
                </a:solidFill>
                <a:latin typeface="Arial"/>
              </a:defRPr>
            </a:pPr>
            <a:r>
              <a:t>• Frames pass sequentially through detection, validation, and quality gates before running parallel inferences.</a:t>
            </a:r>
          </a:p>
          <a:p>
            <a:pPr>
              <a:spcAft>
                <a:spcPts val="1000"/>
              </a:spcAft>
              <a:defRPr sz="1200">
                <a:solidFill>
                  <a:srgbClr val="C8C8DC"/>
                </a:solidFill>
                <a:latin typeface="Arial"/>
              </a:defRPr>
            </a:pPr>
            <a:r>
              <a:t>• Texture (Spatial), Physiology (Biological BVP), and Challenge (Temporal Actions) operate as distinct pipelines.</a:t>
            </a:r>
          </a:p>
          <a:p>
            <a:pPr>
              <a:spcAft>
                <a:spcPts val="1000"/>
              </a:spcAft>
              <a:defRPr sz="1200">
                <a:solidFill>
                  <a:srgbClr val="C8C8DC"/>
                </a:solidFill>
                <a:latin typeface="Arial"/>
              </a:defRPr>
            </a:pPr>
            <a:r>
              <a:t>• Decision Fusion acts as the linear convergence layer to calculate output probabilities.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766560" y="1005840"/>
            <a:ext cx="2011680" cy="365760"/>
          </a:xfrm>
          <a:prstGeom prst="roundRect">
            <a:avLst/>
          </a:prstGeom>
          <a:solidFill>
            <a:srgbClr val="F8BBD0"/>
          </a:solidFill>
          <a:ln w="12700">
            <a:solidFill>
              <a:srgbClr val="3C3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defRPr sz="950" b="1">
                <a:solidFill>
                  <a:srgbClr val="282828"/>
                </a:solidFill>
                <a:latin typeface="Arial"/>
              </a:defRPr>
            </a:pPr>
            <a:r>
              <a:t>Video Frames (BGR stream)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0" y="1371600"/>
            <a:ext cx="0" cy="182880"/>
          </a:xfrm>
          <a:prstGeom prst="line">
            <a:avLst/>
          </a:prstGeom>
          <a:ln w="15240">
            <a:solidFill>
              <a:srgbClr val="3C3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766560" y="1554480"/>
            <a:ext cx="2011680" cy="365760"/>
          </a:xfrm>
          <a:prstGeom prst="roundRect">
            <a:avLst/>
          </a:prstGeom>
          <a:solidFill>
            <a:srgbClr val="FFE0B2"/>
          </a:solidFill>
          <a:ln w="12700">
            <a:solidFill>
              <a:srgbClr val="3C3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defRPr sz="950" b="1">
                <a:solidFill>
                  <a:srgbClr val="282828"/>
                </a:solidFill>
                <a:latin typeface="Arial"/>
              </a:defRPr>
            </a:pPr>
            <a:r>
              <a:t>YOLOv8-Face Detection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0" y="1920240"/>
            <a:ext cx="0" cy="182880"/>
          </a:xfrm>
          <a:prstGeom prst="line">
            <a:avLst/>
          </a:prstGeom>
          <a:ln w="15240">
            <a:solidFill>
              <a:srgbClr val="3C3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766560" y="2103120"/>
            <a:ext cx="2011680" cy="365760"/>
          </a:xfrm>
          <a:prstGeom prst="roundRect">
            <a:avLst/>
          </a:prstGeom>
          <a:solidFill>
            <a:srgbClr val="FFF9C4"/>
          </a:solidFill>
          <a:ln w="12700">
            <a:solidFill>
              <a:srgbClr val="3C3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defRPr sz="950" b="1">
                <a:solidFill>
                  <a:srgbClr val="282828"/>
                </a:solidFill>
                <a:latin typeface="Arial"/>
              </a:defRPr>
            </a:pPr>
            <a:r>
              <a:t>Signal Quality Filter Gate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2651760"/>
            <a:ext cx="6217920" cy="1645920"/>
          </a:xfrm>
          <a:prstGeom prst="roundRect">
            <a:avLst/>
          </a:prstGeom>
          <a:noFill/>
          <a:ln w="19050">
            <a:solidFill>
              <a:srgbClr val="3C3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78440" y="32004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8A2BE2"/>
                </a:solidFill>
                <a:latin typeface="Arial"/>
              </a:defRPr>
            </a:pPr>
            <a:r>
              <a:t>3x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60" y="2834640"/>
            <a:ext cx="1645920" cy="1097280"/>
          </a:xfrm>
          <a:prstGeom prst="roundRect">
            <a:avLst/>
          </a:prstGeom>
          <a:solidFill>
            <a:srgbClr val="E0F2F1"/>
          </a:solidFill>
          <a:ln w="12700">
            <a:solidFill>
              <a:srgbClr val="3C3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defRPr sz="950" b="1">
                <a:solidFill>
                  <a:srgbClr val="282828"/>
                </a:solidFill>
                <a:latin typeface="Arial"/>
              </a:defRPr>
            </a:pPr>
            <a:r>
              <a:t>Passive Texture CNN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0" y="2834640"/>
            <a:ext cx="1645920" cy="1097280"/>
          </a:xfrm>
          <a:prstGeom prst="roundRect">
            <a:avLst/>
          </a:prstGeom>
          <a:solidFill>
            <a:srgbClr val="E0F2F1"/>
          </a:solidFill>
          <a:ln w="12700">
            <a:solidFill>
              <a:srgbClr val="3C3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defRPr sz="950" b="1">
                <a:solidFill>
                  <a:srgbClr val="282828"/>
                </a:solidFill>
                <a:latin typeface="Arial"/>
              </a:defRPr>
            </a:pPr>
            <a:r>
              <a:t>Physiological rPPG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2834640"/>
            <a:ext cx="1645920" cy="1097280"/>
          </a:xfrm>
          <a:prstGeom prst="roundRect">
            <a:avLst/>
          </a:prstGeom>
          <a:solidFill>
            <a:srgbClr val="E0F2F1"/>
          </a:solidFill>
          <a:ln w="12700">
            <a:solidFill>
              <a:srgbClr val="3C3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defRPr sz="950" b="1">
                <a:solidFill>
                  <a:srgbClr val="282828"/>
                </a:solidFill>
                <a:latin typeface="Arial"/>
              </a:defRPr>
            </a:pPr>
            <a:r>
              <a:t>Active Challenges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772400" y="2468880"/>
            <a:ext cx="0" cy="365760"/>
          </a:xfrm>
          <a:prstGeom prst="line">
            <a:avLst/>
          </a:prstGeom>
          <a:ln w="15240">
            <a:solidFill>
              <a:srgbClr val="3C3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5760720" y="2468880"/>
            <a:ext cx="2011680" cy="365760"/>
          </a:xfrm>
          <a:prstGeom prst="bentConnector3">
            <a:avLst/>
          </a:prstGeom>
          <a:ln w="15240">
            <a:solidFill>
              <a:srgbClr val="3C3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772400" y="2468880"/>
            <a:ext cx="2011680" cy="365760"/>
          </a:xfrm>
          <a:prstGeom prst="bentConnector3">
            <a:avLst/>
          </a:prstGeom>
          <a:ln w="15240">
            <a:solidFill>
              <a:srgbClr val="3C3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766560" y="4480560"/>
            <a:ext cx="2011680" cy="365760"/>
          </a:xfrm>
          <a:prstGeom prst="roundRect">
            <a:avLst/>
          </a:prstGeom>
          <a:solidFill>
            <a:srgbClr val="FFF9C4"/>
          </a:solidFill>
          <a:ln w="12700">
            <a:solidFill>
              <a:srgbClr val="3C3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defRPr sz="950" b="1">
                <a:solidFill>
                  <a:srgbClr val="282828"/>
                </a:solidFill>
                <a:latin typeface="Arial"/>
              </a:defRPr>
            </a:pPr>
            <a:r>
              <a:t>Weighted Decision Fusion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60720" y="3931920"/>
            <a:ext cx="2011680" cy="548640"/>
          </a:xfrm>
          <a:prstGeom prst="bentConnector3">
            <a:avLst/>
          </a:prstGeom>
          <a:ln w="15240">
            <a:solidFill>
              <a:srgbClr val="3C3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772400" y="3931920"/>
            <a:ext cx="0" cy="548640"/>
          </a:xfrm>
          <a:prstGeom prst="line">
            <a:avLst/>
          </a:prstGeom>
          <a:ln w="15240">
            <a:solidFill>
              <a:srgbClr val="3C3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7772400" y="3931920"/>
            <a:ext cx="2011680" cy="548640"/>
          </a:xfrm>
          <a:prstGeom prst="bentConnector3">
            <a:avLst/>
          </a:prstGeom>
          <a:ln w="15240">
            <a:solidFill>
              <a:srgbClr val="3C3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766560" y="5029200"/>
            <a:ext cx="2011680" cy="365760"/>
          </a:xfrm>
          <a:prstGeom prst="roundRect">
            <a:avLst/>
          </a:prstGeom>
          <a:solidFill>
            <a:srgbClr val="E1BEE7"/>
          </a:solidFill>
          <a:ln w="12700">
            <a:solidFill>
              <a:srgbClr val="3C3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defRPr sz="950" b="1">
                <a:solidFill>
                  <a:srgbClr val="282828"/>
                </a:solidFill>
                <a:latin typeface="Arial"/>
              </a:defRPr>
            </a:pPr>
            <a:r>
              <a:t>Linear Decision Threshold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772400" y="5394960"/>
            <a:ext cx="0" cy="182880"/>
          </a:xfrm>
          <a:prstGeom prst="line">
            <a:avLst/>
          </a:prstGeom>
          <a:ln w="15240">
            <a:solidFill>
              <a:srgbClr val="3C3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766560" y="5577840"/>
            <a:ext cx="2011680" cy="365760"/>
          </a:xfrm>
          <a:prstGeom prst="roundRect">
            <a:avLst/>
          </a:prstGeom>
          <a:solidFill>
            <a:srgbClr val="C8E6C9"/>
          </a:solidFill>
          <a:ln w="12700">
            <a:solidFill>
              <a:srgbClr val="3C3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defRPr sz="950" b="1">
                <a:solidFill>
                  <a:srgbClr val="282828"/>
                </a:solidFill>
                <a:latin typeface="Arial"/>
              </a:defRPr>
            </a:pPr>
            <a:r>
              <a:t>Output Verdict (Live/Spoof)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0040"/>
            <a:ext cx="10817352" cy="914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200" b="1">
                <a:solidFill>
                  <a:srgbClr val="8A2BE2"/>
                </a:solidFill>
                <a:latin typeface="Arial"/>
              </a:defRPr>
            </a:pPr>
            <a:r>
              <a:t>Defense Pillars: Combining Spatial Textures, Cardiac Physiology, and Active Directives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645920"/>
            <a:ext cx="2468880" cy="4114800"/>
          </a:xfrm>
          <a:prstGeom prst="roundRect">
            <a:avLst/>
          </a:prstGeom>
          <a:solidFill>
            <a:srgbClr val="181622"/>
          </a:solidFill>
          <a:ln w="12700">
            <a:solidFill>
              <a:srgbClr val="3C3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28600" rIns="182880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1. Passive Texture</a:t>
            </a:r>
          </a:p>
          <a:p>
            <a:pPr>
              <a:spcAft>
                <a:spcPts val="1200"/>
              </a:spcAft>
              <a:defRPr sz="900" b="1">
                <a:solidFill>
                  <a:srgbClr val="8A2BE2"/>
                </a:solidFill>
                <a:latin typeface="Arial"/>
              </a:defRPr>
            </a:pPr>
            <a:r>
              <a:t>SPATIAL TEXTURES</a:t>
            </a:r>
          </a:p>
          <a:p>
            <a:pPr>
              <a:spcBef>
                <a:spcPts val="500"/>
              </a:spcBef>
              <a:defRPr sz="1150">
                <a:solidFill>
                  <a:srgbClr val="C8C8DC"/>
                </a:solidFill>
                <a:latin typeface="Arial"/>
              </a:defRPr>
            </a:pPr>
            <a:r>
              <a:t>MiniFASNet CNN classification parsing high-frequency surface patterns to detect print paper/screen structures.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29000" y="1645920"/>
            <a:ext cx="2468880" cy="4114800"/>
          </a:xfrm>
          <a:prstGeom prst="roundRect">
            <a:avLst/>
          </a:prstGeom>
          <a:solidFill>
            <a:srgbClr val="181622"/>
          </a:solidFill>
          <a:ln w="12700">
            <a:solidFill>
              <a:srgbClr val="3C3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28600" rIns="182880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2. Physiological rPPG</a:t>
            </a:r>
          </a:p>
          <a:p>
            <a:pPr>
              <a:spcAft>
                <a:spcPts val="1200"/>
              </a:spcAft>
              <a:defRPr sz="900" b="1">
                <a:solidFill>
                  <a:srgbClr val="8A2BE2"/>
                </a:solidFill>
                <a:latin typeface="Arial"/>
              </a:defRPr>
            </a:pPr>
            <a:r>
              <a:t>HEART RATE PULSE</a:t>
            </a:r>
          </a:p>
          <a:p>
            <a:pPr>
              <a:spcBef>
                <a:spcPts val="500"/>
              </a:spcBef>
              <a:defRPr sz="1150">
                <a:solidFill>
                  <a:srgbClr val="C8C8DC"/>
                </a:solidFill>
                <a:latin typeface="Arial"/>
              </a:defRPr>
            </a:pPr>
            <a:r>
              <a:t>3D spatio-temporal CNN extracting cardiac micro-signals from skin color shifts to verify living tissue.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645920"/>
            <a:ext cx="2468880" cy="4114800"/>
          </a:xfrm>
          <a:prstGeom prst="roundRect">
            <a:avLst/>
          </a:prstGeom>
          <a:solidFill>
            <a:srgbClr val="181622"/>
          </a:solidFill>
          <a:ln w="12700">
            <a:solidFill>
              <a:srgbClr val="3C3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28600" rIns="182880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3. Active Challenges</a:t>
            </a:r>
          </a:p>
          <a:p>
            <a:pPr>
              <a:spcAft>
                <a:spcPts val="1200"/>
              </a:spcAft>
              <a:defRPr sz="900" b="1">
                <a:solidFill>
                  <a:srgbClr val="8A2BE2"/>
                </a:solidFill>
                <a:latin typeface="Arial"/>
              </a:defRPr>
            </a:pPr>
            <a:r>
              <a:t>CHALLENGE ACTIONS</a:t>
            </a:r>
          </a:p>
          <a:p>
            <a:pPr>
              <a:spcBef>
                <a:spcPts val="500"/>
              </a:spcBef>
              <a:defRPr sz="1150">
                <a:solidFill>
                  <a:srgbClr val="C8C8DC"/>
                </a:solidFill>
                <a:latin typeface="Arial"/>
              </a:defRPr>
            </a:pPr>
            <a:r>
              <a:t>Randomized directives (Blink, Turn, Smile) validated dynamically to establish immediate user cooperation.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15400" y="1645920"/>
            <a:ext cx="2468880" cy="4114800"/>
          </a:xfrm>
          <a:prstGeom prst="roundRect">
            <a:avLst/>
          </a:prstGeom>
          <a:solidFill>
            <a:srgbClr val="181622"/>
          </a:solidFill>
          <a:ln w="12700">
            <a:solidFill>
              <a:srgbClr val="3C3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28600" rIns="182880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4. Temporal Validator</a:t>
            </a:r>
          </a:p>
          <a:p>
            <a:pPr>
              <a:spcAft>
                <a:spcPts val="1200"/>
              </a:spcAft>
              <a:defRPr sz="900" b="1">
                <a:solidFill>
                  <a:srgbClr val="8A2BE2"/>
                </a:solidFill>
                <a:latin typeface="Arial"/>
              </a:defRPr>
            </a:pPr>
            <a:r>
              <a:t>TEMPORAL CUTS</a:t>
            </a:r>
          </a:p>
          <a:p>
            <a:pPr>
              <a:spcBef>
                <a:spcPts val="500"/>
              </a:spcBef>
              <a:defRPr sz="1150">
                <a:solidFill>
                  <a:srgbClr val="C8C8DC"/>
                </a:solidFill>
                <a:latin typeface="Arial"/>
              </a:defRPr>
            </a:pPr>
            <a:r>
              <a:t>Time-series integrity checking to trace jump-cuts and confirm time sync between challenge events.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lemetry_visual_178318519877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274320"/>
            <a:ext cx="5120640" cy="914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>
                <a:solidFill>
                  <a:srgbClr val="FFFFFF"/>
                </a:solidFill>
                <a:latin typeface="Arial"/>
              </a:defRPr>
            </a:pPr>
            <a:r>
              <a:t>Results: SHIELD Exceeds Enterprise Standards with 1.0% ACER at 85ms Latency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80160"/>
          <a:ext cx="51206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828800"/>
              </a:tblGrid>
              <a:tr h="402336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8A2BE2"/>
                          </a:solidFill>
                          <a:latin typeface="Arial"/>
                        </a:defRPr>
                      </a:pPr>
                      <a:r>
                        <a:t>Metric Parameter</a:t>
                      </a:r>
                    </a:p>
                  </a:txBody>
                  <a:tcPr>
                    <a:solidFill>
                      <a:srgbClr val="18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8A2BE2"/>
                          </a:solidFill>
                          <a:latin typeface="Arial"/>
                        </a:defRPr>
                      </a:pPr>
                      <a:r>
                        <a:t>SHIELD Score</a:t>
                      </a:r>
                    </a:p>
                  </a:txBody>
                  <a:tcPr>
                    <a:solidFill>
                      <a:srgbClr val="18162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C8C8DC"/>
                          </a:solidFill>
                          <a:latin typeface="Arial"/>
                        </a:defRPr>
                      </a:pPr>
                      <a:r>
                        <a:t>APCER (Attack Error Rate)</a:t>
                      </a:r>
                    </a:p>
                  </a:txBody>
                  <a:tcPr>
                    <a:solidFill>
                      <a:srgbClr val="0A0A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1.2%</a:t>
                      </a:r>
                    </a:p>
                  </a:txBody>
                  <a:tcPr>
                    <a:solidFill>
                      <a:srgbClr val="0A0A1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C8C8DC"/>
                          </a:solidFill>
                          <a:latin typeface="Arial"/>
                        </a:defRPr>
                      </a:pPr>
                      <a:r>
                        <a:t>BPCER (Bona Fide Error Rate)</a:t>
                      </a:r>
                    </a:p>
                  </a:txBody>
                  <a:tcPr>
                    <a:solidFill>
                      <a:srgbClr val="0A0A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0.8%</a:t>
                      </a:r>
                    </a:p>
                  </a:txBody>
                  <a:tcPr>
                    <a:solidFill>
                      <a:srgbClr val="0A0A1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C8C8DC"/>
                          </a:solidFill>
                          <a:latin typeface="Arial"/>
                        </a:defRPr>
                      </a:pPr>
                      <a:r>
                        <a:t>ACER (Average Error Rate)</a:t>
                      </a:r>
                    </a:p>
                  </a:txBody>
                  <a:tcPr>
                    <a:solidFill>
                      <a:srgbClr val="0A0A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1.0%</a:t>
                      </a:r>
                    </a:p>
                  </a:txBody>
                  <a:tcPr>
                    <a:solidFill>
                      <a:srgbClr val="0A0A1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C8C8DC"/>
                          </a:solidFill>
                          <a:latin typeface="Arial"/>
                        </a:defRPr>
                      </a:pPr>
                      <a:r>
                        <a:t>End-to-End Inference Latency</a:t>
                      </a:r>
                    </a:p>
                  </a:txBody>
                  <a:tcPr>
                    <a:solidFill>
                      <a:srgbClr val="0A0A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85 ms</a:t>
                      </a:r>
                    </a:p>
                  </a:txBody>
                  <a:tcPr>
                    <a:solidFill>
                      <a:srgbClr val="0A0A1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347472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8A2BE2"/>
                </a:solidFill>
                <a:latin typeface="Arial"/>
              </a:defRPr>
            </a:pPr>
            <a:r>
              <a:t>📊 ISO/IEC 30107-3 Standard Metrics</a:t>
            </a:r>
          </a:p>
          <a:p>
            <a:pPr>
              <a:spcAft>
                <a:spcPts val="400"/>
              </a:spcAft>
              <a:defRPr sz="1050">
                <a:solidFill>
                  <a:srgbClr val="C8C8DC"/>
                </a:solidFill>
                <a:latin typeface="Arial"/>
              </a:defRPr>
            </a:pPr>
            <a:r>
              <a:t>• APCER: Attack Presentation Classification Error Rate. Measures the % of spoof attacks incorrectly classified as live.</a:t>
            </a:r>
          </a:p>
          <a:p>
            <a:pPr>
              <a:spcAft>
                <a:spcPts val="400"/>
              </a:spcAft>
              <a:defRPr sz="1050">
                <a:solidFill>
                  <a:srgbClr val="C8C8DC"/>
                </a:solidFill>
                <a:latin typeface="Arial"/>
              </a:defRPr>
            </a:pPr>
            <a:r>
              <a:t>• BPCER: Bona Fide Presentation Classification Error Rate. Measures the % of genuine live users incorrectly flagged as spoofs.</a:t>
            </a:r>
          </a:p>
          <a:p>
            <a:pPr>
              <a:spcAft>
                <a:spcPts val="400"/>
              </a:spcAft>
              <a:defRPr sz="1050">
                <a:solidFill>
                  <a:srgbClr val="C8C8DC"/>
                </a:solidFill>
                <a:latin typeface="Arial"/>
              </a:defRPr>
            </a:pPr>
            <a:r>
              <a:t>• ACER: Average Classification Error Rate. Calculated as the average of APCER and BPCER: ACER = (APCER + BPCER) / 2.</a:t>
            </a:r>
          </a:p>
          <a:p>
            <a:pPr>
              <a:spcAft>
                <a:spcPts val="400"/>
              </a:spcAft>
              <a:defRPr sz="1050">
                <a:solidFill>
                  <a:srgbClr val="C8C8DC"/>
                </a:solidFill>
                <a:latin typeface="Arial"/>
              </a:defRPr>
            </a:pPr>
            <a:r>
              <a:t>• Empirical Calibration: System weights tuned via 1,771 test combinations under min_weight=0.10 constraint to achieve 1.0% ACER.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acial_mesh_visual_17831851855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274320"/>
            <a:ext cx="5120640" cy="914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>
                <a:solidFill>
                  <a:srgbClr val="FFFFFF"/>
                </a:solidFill>
                <a:latin typeface="Arial"/>
              </a:defRPr>
            </a:pPr>
            <a:r>
              <a:t>Novelty: Scale-Invariant Identity Landmark Trajectories Prevent Mid-Session Swapping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80160"/>
            <a:ext cx="51206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 b="1">
                <a:solidFill>
                  <a:srgbClr val="8A2BE2"/>
                </a:solidFill>
                <a:latin typeface="Arial"/>
              </a:defRPr>
            </a:pPr>
            <a:r>
              <a:t>1. Real-Time Scale-Invariant Identity Consistency Check</a:t>
            </a:r>
          </a:p>
          <a:p>
            <a:pPr>
              <a:spcAft>
                <a:spcPts val="600"/>
              </a:spcAft>
              <a:defRPr sz="1100">
                <a:solidFill>
                  <a:srgbClr val="C8C8DC"/>
                </a:solidFill>
                <a:latin typeface="Arial"/>
              </a:defRPr>
            </a:pPr>
            <a:r>
              <a:t>Defeats mid-session candidate swapping (tag-team fraud):</a:t>
            </a:r>
            <a:br/>
            <a:r>
              <a:t>• Computes scale-invariant 4D geometric signature ratios (nose, eyes, chin, lip corners) using MediaPipe FaceMesh landmarks.</a:t>
            </a:r>
            <a:br/>
            <a:r>
              <a:t>• Signature distance is verified frame-by-frame. Websocket is killed immediately if signature drift exceeds threshold (&gt;0.20).</a:t>
            </a:r>
          </a:p>
          <a:p>
            <a:pPr>
              <a:spcBef>
                <a:spcPts val="800"/>
              </a:spcBef>
              <a:defRPr sz="1400" b="1">
                <a:solidFill>
                  <a:srgbClr val="8A2BE2"/>
                </a:solidFill>
                <a:latin typeface="Arial"/>
              </a:defRPr>
            </a:pPr>
            <a:r>
              <a:t>2. JPEG Compression Defenses</a:t>
            </a:r>
          </a:p>
          <a:p>
            <a:pPr>
              <a:spcAft>
                <a:spcPts val="600"/>
              </a:spcAft>
              <a:defRPr sz="1100">
                <a:solidFill>
                  <a:srgbClr val="C8C8DC"/>
                </a:solidFill>
                <a:latin typeface="Arial"/>
              </a:defRPr>
            </a:pPr>
            <a:r>
              <a:t>Enhances resilience against adversarial spatial noise attacks:</a:t>
            </a:r>
            <a:br/>
            <a:r>
              <a:t>• Integrates compression filters into the face crop step to cancel out artificial noise patterns generated by digital camera overlays.</a:t>
            </a:r>
          </a:p>
          <a:p>
            <a:pPr>
              <a:spcBef>
                <a:spcPts val="800"/>
              </a:spcBef>
              <a:defRPr sz="1400" b="1">
                <a:solidFill>
                  <a:srgbClr val="8A2BE2"/>
                </a:solidFill>
                <a:latin typeface="Arial"/>
              </a:defRPr>
            </a:pPr>
            <a:r>
              <a:t>3. Systematic Grid Search Optimization</a:t>
            </a:r>
          </a:p>
          <a:p>
            <a:pPr>
              <a:spcAft>
                <a:spcPts val="600"/>
              </a:spcAft>
              <a:defRPr sz="1100">
                <a:solidFill>
                  <a:srgbClr val="C8C8DC"/>
                </a:solidFill>
                <a:latin typeface="Arial"/>
              </a:defRPr>
            </a:pPr>
            <a:r>
              <a:t>• Evaluated 1,771 separate sensor weight parameter combinations mathematically to eliminate sub-model silence.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0040"/>
            <a:ext cx="10817352" cy="914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200" b="1">
                <a:solidFill>
                  <a:srgbClr val="8A2BE2"/>
                </a:solidFill>
                <a:latin typeface="Arial"/>
              </a:defRPr>
            </a:pPr>
            <a:r>
              <a:t>Deployment: Flutter Dashboard and WebSocket Ingestion Enable Seamless Live Audit Trails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645920"/>
            <a:ext cx="5120640" cy="4114800"/>
          </a:xfrm>
          <a:prstGeom prst="roundRect">
            <a:avLst/>
          </a:prstGeom>
          <a:solidFill>
            <a:srgbClr val="181622"/>
          </a:solidFill>
          <a:ln w="12700">
            <a:solidFill>
              <a:srgbClr val="3C3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spcAft>
                <a:spcPts val="1000"/>
              </a:spcAft>
              <a:defRPr sz="1800" b="1">
                <a:solidFill>
                  <a:srgbClr val="FFFFFF"/>
                </a:solidFill>
                <a:latin typeface="Arial"/>
              </a:defRPr>
            </a:pPr>
            <a:r>
              <a:t>📱 Interactive Flutter Telemetry Dashboard</a:t>
            </a:r>
          </a:p>
          <a:p>
            <a:pPr>
              <a:spcAft>
                <a:spcPts val="800"/>
              </a:spcAft>
              <a:defRPr sz="1300">
                <a:solidFill>
                  <a:srgbClr val="C8C8DC"/>
                </a:solidFill>
                <a:latin typeface="Arial"/>
              </a:defRPr>
            </a:pPr>
            <a:r>
              <a:t>• Quality Telemetry Guide: Interactive oval frame changing colors dynamically based on real-time quality parameters (Blur, Exposure, Pose).</a:t>
            </a:r>
          </a:p>
          <a:p>
            <a:pPr>
              <a:spcAft>
                <a:spcPts val="800"/>
              </a:spcAft>
              <a:defRPr sz="1300">
                <a:solidFill>
                  <a:srgbClr val="C8C8DC"/>
                </a:solidFill>
                <a:latin typeface="Arial"/>
              </a:defRPr>
            </a:pPr>
            <a:r>
              <a:t>• Explainable Biometrics: Displays clear confidence breakdowns for texture, biological rPPG, and active challenge scores in real-time.</a:t>
            </a:r>
          </a:p>
          <a:p>
            <a:pPr>
              <a:spcAft>
                <a:spcPts val="800"/>
              </a:spcAft>
              <a:defRPr sz="1300">
                <a:solidFill>
                  <a:srgbClr val="C8C8DC"/>
                </a:solidFill>
                <a:latin typeface="Arial"/>
              </a:defRPr>
            </a:pPr>
            <a:r>
              <a:t>• Secure Ingestion Gateway: Informs user of capture instructions prior to starting high-stakes verification flows.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645920"/>
            <a:ext cx="5212080" cy="4114800"/>
          </a:xfrm>
          <a:prstGeom prst="roundRect">
            <a:avLst/>
          </a:prstGeom>
          <a:solidFill>
            <a:srgbClr val="181622"/>
          </a:solidFill>
          <a:ln w="12700">
            <a:solidFill>
              <a:srgbClr val="3C3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spcAft>
                <a:spcPts val="1000"/>
              </a:spcAft>
              <a:defRPr sz="1800" b="1">
                <a:solidFill>
                  <a:srgbClr val="8A2BE2"/>
                </a:solidFill>
                <a:latin typeface="Arial"/>
              </a:defRPr>
            </a:pPr>
            <a:r>
              <a:t>🎥 Live Demonstration Protocol</a:t>
            </a:r>
          </a:p>
          <a:p>
            <a:pPr>
              <a:spcBef>
                <a:spcPts val="500"/>
              </a:spcBef>
              <a:defRPr sz="1200">
                <a:solidFill>
                  <a:srgbClr val="C8C8DC"/>
                </a:solidFill>
                <a:latin typeface="Arial"/>
              </a:defRPr>
            </a:pPr>
            <a:r>
              <a:t>Websocket-based real-time capture and verification pipeline:</a:t>
            </a:r>
            <a:br/>
            <a:r>
              <a:t>1. Active Verification: Core session starts, requesting random user movements.</a:t>
            </a:r>
            <a:br/>
            <a:r>
              <a:t>2. Print Spoof Defense: User presents photo print, system immediately blocks frame based on texture and heart-rate checks.</a:t>
            </a:r>
            <a:br/>
            <a:r>
              <a:t>3. Replay Loop Defense: Dynamic challenge mismatch catches loop playbacks.</a:t>
            </a:r>
            <a:br/>
            <a:r>
              <a:t>4. Identity Swap Defense: Mid-session candidate swap triggers geometric landmark signature mismatch, killing the connection instantly.</a:t>
            </a:r>
            <a:br/>
            <a:br/>
            <a:r>
              <a:t>Execution logs and test coverage verify the robust integration.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