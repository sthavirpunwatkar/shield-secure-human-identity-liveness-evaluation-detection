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600"/>
              </a:spcBef>
              <a:defRPr sz="1500" b="1">
                <a:solidFill>
                  <a:srgbClr val="2979FF"/>
                </a:solidFill>
                <a:latin typeface="Arial"/>
              </a:defRPr>
            </a:pPr>
            <a:r>
              <a:t>Multimodal Real-Time Biometric Liveness &amp; Identity Verification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D2D7DF"/>
                </a:solidFill>
                <a:latin typeface="Arial"/>
              </a:defRPr>
            </a:pPr>
            <a:r>
              <a:t>Project Partners: Sthavir Sunil Punwatkar, [Project Partner 2]</a:t>
            </a:r>
          </a:p>
          <a:p>
            <a:pPr>
              <a:spcBef>
                <a:spcPts val="300"/>
              </a:spcBef>
              <a:defRPr sz="1150" b="1">
                <a:solidFill>
                  <a:srgbClr val="D2D7DF"/>
                </a:solidFill>
                <a:latin typeface="Arial"/>
              </a:defRPr>
            </a:pPr>
            <a:r>
              <a:t>Project Guide: [Project Guide Name]</a:t>
            </a:r>
          </a:p>
          <a:p>
            <a:pPr>
              <a:spcBef>
                <a:spcPts val="500"/>
              </a:spcBef>
              <a:defRPr sz="1150">
                <a:solidFill>
                  <a:srgbClr val="8C96A5"/>
                </a:solidFill>
                <a:latin typeface="Arial"/>
              </a:defRPr>
            </a:pPr>
            <a:r>
              <a:t>CDAC Project Review  |  Domain: Biometrics &amp; Computer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17520"/>
            <a:ext cx="5029200" cy="329184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500" b="1">
                <a:solidFill>
                  <a:srgbClr val="2979FF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Bef>
                <a:spcPts val="600"/>
              </a:spcBef>
              <a:defRPr sz="1100">
                <a:solidFill>
                  <a:srgbClr val="D2D7DF"/>
                </a:solidFill>
                <a:latin typeface="Arial"/>
              </a:defRPr>
            </a:pPr>
            <a:r>
              <a:t>Remote biometric systems face vulnerabilities to spoofing:</a:t>
            </a:r>
            <a:br/>
            <a:r>
              <a:t>• Presentation Attacks (PA): Static photo prints, video loop replays, and 3D masks deceive traditional facial recognition.</a:t>
            </a:r>
            <a:br/>
            <a:r>
              <a:t>• Identity Swapping: User swaps mid-session (tag-team cheating) during active testing or authentication.</a:t>
            </a:r>
            <a:br/>
            <a:r>
              <a:t>• Deployment Limits: Existing anti-spoofing methods require specialized depth hardware, rendering wide scale deployments impractical.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2979FF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979FF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2979FF"/>
                </a:solidFill>
                <a:latin typeface="Arial"/>
              </a:defRPr>
            </a:pPr>
            <a:r>
              <a:t>System Architecture &amp; Data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10817352" cy="493776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1400"/>
              </a:spcAft>
              <a:defRPr sz="1600" b="1">
                <a:solidFill>
                  <a:srgbClr val="2979FF"/>
                </a:solidFill>
                <a:latin typeface="Arial"/>
              </a:defRPr>
            </a:pPr>
            <a:r>
              <a:t>⚙️ PIPELINE EXECUTION FLOW</a:t>
            </a:r>
          </a:p>
          <a:p>
            <a:pPr>
              <a:spcBef>
                <a:spcPts val="400"/>
              </a:spcBef>
              <a:defRPr sz="1100" b="1">
                <a:solidFill>
                  <a:srgbClr val="D2D7DF"/>
                </a:solidFill>
                <a:latin typeface="Courier New"/>
              </a:defRPr>
            </a:pPr>
            <a:r>
              <a:t>                    [ STANDARD 2D WEBCAM VIDEO STREAM ]</a:t>
            </a:r>
            <a:br/>
            <a:r>
              <a:t>                                     │</a:t>
            </a:r>
            <a:br/>
            <a:r>
              <a:t>                                     ▼</a:t>
            </a:r>
            <a:br/>
            <a:r>
              <a:t>                  [ YOLOv8-FACE DETECTION ENGINE (ONNX) ] ➔ (No Face ➔ Abort)</a:t>
            </a:r>
            <a:br/>
            <a:r>
              <a:t>                                     │</a:t>
            </a:r>
            <a:br/>
            <a:r>
              <a:t>                                     ▼</a:t>
            </a:r>
            <a:br/>
            <a:r>
              <a:t>                 [ REAL-TIME IMAGE QUALITY FILTERING GATE ]</a:t>
            </a:r>
            <a:br/>
            <a:r>
              <a:t>                  (Rejects Blurry, Low Light, or Occluded frames)</a:t>
            </a:r>
            <a:br/>
            <a:r>
              <a:t>                                     │</a:t>
            </a:r>
            <a:br/>
            <a:r>
              <a:t>                                     ▼</a:t>
            </a:r>
            <a:br/>
            <a:r>
              <a:t>               ┌─────────────────────┼─────────────────────┐</a:t>
            </a:r>
            <a:br/>
            <a:r>
              <a:t>               ▼                     ▼                     ▼</a:t>
            </a:r>
            <a:br/>
            <a:r>
              <a:t>       [PASSIVE TEXTURE]      [PHYSIOLOGY CHECK]     [ACTIVE CHALLENGE]</a:t>
            </a:r>
            <a:br/>
            <a:r>
              <a:t>         (MiniFASNet)           (Remote rPPG)        (Blink, Smile, Turn)</a:t>
            </a:r>
            <a:br/>
            <a:r>
              <a:t>               │                     │                     │</a:t>
            </a:r>
            <a:br/>
            <a:r>
              <a:t>               └─────────────────────┼─────────────────────┘</a:t>
            </a:r>
            <a:br/>
            <a:r>
              <a:t>                                     │</a:t>
            </a:r>
            <a:br/>
            <a:r>
              <a:t>                                     ▼</a:t>
            </a:r>
            <a:br/>
            <a:r>
              <a:t>                  [ EXPLAINABLE WEIGHTED DECISION FUSION ]</a:t>
            </a:r>
            <a:br/>
            <a:r>
              <a:t>                 (Dynamic weight computation for live parameters)</a:t>
            </a:r>
            <a:br/>
            <a:r>
              <a:t>                                     │</a:t>
            </a:r>
            <a:br/>
            <a:r>
              <a:t>                                     ▼</a:t>
            </a:r>
            <a:br/>
            <a:r>
              <a:t>                         [ SECURE FUSION VERDICT ]</a:t>
            </a:r>
            <a:br/>
            <a:r>
              <a:t>                         (Bona Fide Live / Spoof Rejection)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2979FF"/>
                </a:solidFill>
                <a:latin typeface="Arial"/>
              </a:defRPr>
            </a:pPr>
            <a:r>
              <a:t>Multimodal Verification Pillars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246888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2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2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246888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2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645920"/>
            <a:ext cx="246888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4. Temporal Validator</a:t>
            </a:r>
          </a:p>
          <a:p>
            <a:pPr>
              <a:spcAft>
                <a:spcPts val="12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979FF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979FF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38328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979FF"/>
                </a:solidFill>
                <a:latin typeface="Arial"/>
              </a:defRPr>
            </a:pPr>
            <a:r>
              <a:t>📊 ISO/IEC 30107-3 Standard Metrics</a:t>
            </a:r>
          </a:p>
          <a:p>
            <a:pPr>
              <a:spcAft>
                <a:spcPts val="400"/>
              </a:spcAft>
              <a:defRPr sz="1050">
                <a:solidFill>
                  <a:srgbClr val="D2D7DF"/>
                </a:solidFill>
                <a:latin typeface="Arial"/>
              </a:defRPr>
            </a:pPr>
            <a:r>
              <a:t>• APCER: Attack Presentation Classification Error Rate. Measures the % of spoof attacks incorrectly classified as live.</a:t>
            </a:r>
          </a:p>
          <a:p>
            <a:pPr>
              <a:spcAft>
                <a:spcPts val="400"/>
              </a:spcAft>
              <a:defRPr sz="1050">
                <a:solidFill>
                  <a:srgbClr val="D2D7DF"/>
                </a:solidFill>
                <a:latin typeface="Arial"/>
              </a:defRPr>
            </a:pPr>
            <a:r>
              <a:t>• BPCER: Bona Fide Presentation Classification Error Rate. Measures the % of genuine live users incorrectly flagged as spoofs.</a:t>
            </a:r>
          </a:p>
          <a:p>
            <a:pPr>
              <a:spcAft>
                <a:spcPts val="400"/>
              </a:spcAft>
              <a:defRPr sz="1050">
                <a:solidFill>
                  <a:srgbClr val="D2D7DF"/>
                </a:solidFill>
                <a:latin typeface="Arial"/>
              </a:defRPr>
            </a:pPr>
            <a:r>
              <a:t>• ACER: Average Classification Error Rate. Calculated as the average of APCER and BPCER: ACER = (APCER + BPCER) / 2.</a:t>
            </a:r>
          </a:p>
          <a:p>
            <a:pPr>
              <a:spcAft>
                <a:spcPts val="400"/>
              </a:spcAft>
              <a:defRPr sz="1050">
                <a:solidFill>
                  <a:srgbClr val="D2D7DF"/>
                </a:solidFill>
                <a:latin typeface="Arial"/>
              </a:defRPr>
            </a:pPr>
            <a:r>
              <a:t>• Empirical Calibration: System weights tuned via 1,771 test combinations under min_weight=0.10 constraint to achieve 1.0% ACER.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Novelty &amp; Custom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2. JPEG Compression Defenses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3. Systematic Grid Search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2979FF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2979FF"/>
                </a:solidFill>
                <a:latin typeface="Arial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D2D7DF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