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ield_cover_visual_178318517099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0292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rial"/>
              </a:defRPr>
            </a:pPr>
            <a:r>
              <a:t>SHIELD</a:t>
            </a:r>
          </a:p>
          <a:p>
            <a:pPr>
              <a:spcBef>
                <a:spcPts val="600"/>
              </a:spcBef>
              <a:defRPr sz="1500" b="1">
                <a:solidFill>
                  <a:srgbClr val="2979FF"/>
                </a:solidFill>
                <a:latin typeface="Arial"/>
              </a:defRPr>
            </a:pPr>
            <a:r>
              <a:t>Multimodal Real-Time Biometric Liveness &amp; Identity Verification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D2D7DF"/>
                </a:solidFill>
                <a:latin typeface="Arial"/>
              </a:defRPr>
            </a:pPr>
            <a:r>
              <a:t>Project Partners: Sthavir Sunil Punwatkar, [Project Partner 2]</a:t>
            </a:r>
          </a:p>
          <a:p>
            <a:pPr>
              <a:spcBef>
                <a:spcPts val="300"/>
              </a:spcBef>
              <a:defRPr sz="1150" b="1">
                <a:solidFill>
                  <a:srgbClr val="D2D7DF"/>
                </a:solidFill>
                <a:latin typeface="Arial"/>
              </a:defRPr>
            </a:pPr>
            <a:r>
              <a:t>Project Guide: [Project Guide Name]</a:t>
            </a:r>
          </a:p>
          <a:p>
            <a:pPr>
              <a:spcBef>
                <a:spcPts val="500"/>
              </a:spcBef>
              <a:defRPr sz="1150">
                <a:solidFill>
                  <a:srgbClr val="8C96A5"/>
                </a:solidFill>
                <a:latin typeface="Arial"/>
              </a:defRPr>
            </a:pPr>
            <a:r>
              <a:t>CDAC Project Review  |  Domain: Biometrics &amp; Computer 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017520"/>
            <a:ext cx="5029200" cy="329184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1500" b="1">
                <a:solidFill>
                  <a:srgbClr val="2979FF"/>
                </a:solidFill>
                <a:latin typeface="Arial"/>
              </a:defRPr>
            </a:pPr>
            <a:r>
              <a:t>PROBLEM FORMULATION</a:t>
            </a:r>
          </a:p>
          <a:p>
            <a:pPr>
              <a:spcBef>
                <a:spcPts val="600"/>
              </a:spcBef>
              <a:defRPr sz="1100">
                <a:solidFill>
                  <a:srgbClr val="D2D7DF"/>
                </a:solidFill>
                <a:latin typeface="Arial"/>
              </a:defRPr>
            </a:pPr>
            <a:r>
              <a:t>Remote biometric systems face vulnerabilities to spoofing:</a:t>
            </a:r>
            <a:br/>
            <a:r>
              <a:t>• Presentation Attacks (PA): Static photo prints, video loop replays, and 3D masks deceive traditional facial recognition.</a:t>
            </a:r>
            <a:br/>
            <a:r>
              <a:t>• Identity Swapping: User swaps mid-session (tag-team cheating) during active testing or authentication.</a:t>
            </a:r>
            <a:br/>
            <a:r>
              <a:t>• Deployment Limits: Existing anti-spoofing methods require specialized depth hardware, rendering wide scale deployments impractical.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79FF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979FF"/>
                </a:solidFill>
                <a:latin typeface="Arial"/>
              </a:defRPr>
            </a:pPr>
            <a:r>
              <a:t>🎯 Core Objectives</a:t>
            </a:r>
          </a:p>
          <a:p>
            <a:pPr>
              <a:spcAft>
                <a:spcPts val="12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Develop an end-to-end, real-time liveness pipeline processing multi-layered verification streams in &lt;100ms.</a:t>
            </a:r>
          </a:p>
          <a:p>
            <a:pPr>
              <a:spcAft>
                <a:spcPts val="12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Implement non-intrusive biological checks by extracting blood volume pulse (BVP) from standard RGB video feeds (rPPG).</a:t>
            </a:r>
          </a:p>
          <a:p>
            <a:pPr>
              <a:spcAft>
                <a:spcPts val="12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Introduce randomized active challenge-response tasks combined with frame validation to counter pre-recorded replays.</a:t>
            </a:r>
          </a:p>
          <a:p>
            <a:pPr>
              <a:spcAft>
                <a:spcPts val="12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Construct an explainable multi-modal decision fusion engine to facilitate detailed audit trails.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⚙️ Engineering Targets &amp; KPIs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▪️ ISO/IEC 30107-3 Standard Adherence</a:t>
            </a:r>
          </a:p>
          <a:p>
            <a:pPr>
              <a:spcAft>
                <a:spcPts val="600"/>
              </a:spcAft>
              <a:defRPr sz="1200">
                <a:solidFill>
                  <a:srgbClr val="D2D7DF"/>
                </a:solidFill>
                <a:latin typeface="Arial"/>
              </a:defRPr>
            </a:pPr>
            <a:r>
              <a:t>Deliver an ACER (Average Classification Error Rate) under 1.5% to verify enterprise-level security.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▪️ Edge-Deployable Performance</a:t>
            </a:r>
          </a:p>
          <a:p>
            <a:pPr>
              <a:spcAft>
                <a:spcPts val="600"/>
              </a:spcAft>
              <a:defRPr sz="1200">
                <a:solidFill>
                  <a:srgbClr val="D2D7DF"/>
                </a:solidFill>
                <a:latin typeface="Arial"/>
              </a:defRPr>
            </a:pPr>
            <a:r>
              <a:t>Optimize inference workloads to support execution in under 100ms on consumer-grade CPUs.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▪️ Zero-Dependency RGB Deployment</a:t>
            </a:r>
          </a:p>
          <a:p>
            <a:pPr>
              <a:spcAft>
                <a:spcPts val="600"/>
              </a:spcAft>
              <a:defRPr sz="1200">
                <a:solidFill>
                  <a:srgbClr val="D2D7DF"/>
                </a:solidFill>
                <a:latin typeface="Arial"/>
              </a:defRPr>
            </a:pPr>
            <a:r>
              <a:t>Perform biological, texture, and active checks using simple 2D webcams without dedicated sensors.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79FF"/>
                </a:solidFill>
                <a:latin typeface="Arial"/>
              </a:defRPr>
            </a:pPr>
            <a:r>
              <a:t>System Architecture &amp;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2979FF"/>
                </a:solidFill>
                <a:latin typeface="Arial"/>
              </a:defRPr>
            </a:pPr>
            <a:r>
              <a:t>Video Capture  ➔  YOLOv8 Face Detection  ➔  Quality telemetry  ➔  Multimodal Inference  ➔  Decision Fusion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286000"/>
            <a:ext cx="2468880" cy="384048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Passive Texture</a:t>
            </a:r>
          </a:p>
          <a:p>
            <a:pPr>
              <a:spcAft>
                <a:spcPts val="1000"/>
              </a:spcAft>
              <a:defRPr sz="900" b="1">
                <a:solidFill>
                  <a:srgbClr val="2979FF"/>
                </a:solidFill>
                <a:latin typeface="Arial"/>
              </a:defRPr>
            </a:pPr>
            <a:r>
              <a:t>SPATIAL TEXTURES</a:t>
            </a:r>
          </a:p>
          <a:p>
            <a:pPr>
              <a:spcBef>
                <a:spcPts val="500"/>
              </a:spcBef>
              <a:defRPr sz="1150">
                <a:solidFill>
                  <a:srgbClr val="D2D7DF"/>
                </a:solidFill>
                <a:latin typeface="Arial"/>
              </a:defRPr>
            </a:pPr>
            <a:r>
              <a:t>MiniFASNet CNN classification parsing high-frequency surface patterns to detect print paper/screen structures.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2286000"/>
            <a:ext cx="2468880" cy="384048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Physiological rPPG</a:t>
            </a:r>
          </a:p>
          <a:p>
            <a:pPr>
              <a:spcAft>
                <a:spcPts val="1000"/>
              </a:spcAft>
              <a:defRPr sz="900" b="1">
                <a:solidFill>
                  <a:srgbClr val="2979FF"/>
                </a:solidFill>
                <a:latin typeface="Arial"/>
              </a:defRPr>
            </a:pPr>
            <a:r>
              <a:t>HEART RATE PULSE</a:t>
            </a:r>
          </a:p>
          <a:p>
            <a:pPr>
              <a:spcBef>
                <a:spcPts val="500"/>
              </a:spcBef>
              <a:defRPr sz="1150">
                <a:solidFill>
                  <a:srgbClr val="D2D7DF"/>
                </a:solidFill>
                <a:latin typeface="Arial"/>
              </a:defRPr>
            </a:pPr>
            <a:r>
              <a:t>3D spatio-temporal CNN extracting cardiac micro-signals from skin color shifts to verify living tissue.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286000"/>
            <a:ext cx="2468880" cy="384048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Active Challenges</a:t>
            </a:r>
          </a:p>
          <a:p>
            <a:pPr>
              <a:spcAft>
                <a:spcPts val="1000"/>
              </a:spcAft>
              <a:defRPr sz="900" b="1">
                <a:solidFill>
                  <a:srgbClr val="2979FF"/>
                </a:solidFill>
                <a:latin typeface="Arial"/>
              </a:defRPr>
            </a:pPr>
            <a:r>
              <a:t>CHALLENGE ACTIONS</a:t>
            </a:r>
          </a:p>
          <a:p>
            <a:pPr>
              <a:spcBef>
                <a:spcPts val="500"/>
              </a:spcBef>
              <a:defRPr sz="1150">
                <a:solidFill>
                  <a:srgbClr val="D2D7DF"/>
                </a:solidFill>
                <a:latin typeface="Arial"/>
              </a:defRPr>
            </a:pPr>
            <a:r>
              <a:t>Randomized directives (Blink, Turn, Smile) validated dynamically to establish immediate user cooperation.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2286000"/>
            <a:ext cx="2468880" cy="384048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4. Temporal Validator</a:t>
            </a:r>
          </a:p>
          <a:p>
            <a:pPr>
              <a:spcAft>
                <a:spcPts val="1000"/>
              </a:spcAft>
              <a:defRPr sz="900" b="1">
                <a:solidFill>
                  <a:srgbClr val="2979FF"/>
                </a:solidFill>
                <a:latin typeface="Arial"/>
              </a:defRPr>
            </a:pPr>
            <a:r>
              <a:t>TEMPORAL CUTS</a:t>
            </a:r>
          </a:p>
          <a:p>
            <a:pPr>
              <a:spcBef>
                <a:spcPts val="500"/>
              </a:spcBef>
              <a:defRPr sz="1150">
                <a:solidFill>
                  <a:srgbClr val="D2D7DF"/>
                </a:solidFill>
                <a:latin typeface="Arial"/>
              </a:defRPr>
            </a:pPr>
            <a:r>
              <a:t>Time-series integrity checking to trace jump-cuts and confirm time sync between challenge events.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emetry_visual_17831851987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Results &amp; Evaluation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18872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979FF"/>
                          </a:solidFill>
                          <a:latin typeface="Arial"/>
                        </a:defRPr>
                      </a:pPr>
                      <a:r>
                        <a:t>Metric Parameter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979FF"/>
                          </a:solidFill>
                          <a:latin typeface="Arial"/>
                        </a:defRPr>
                      </a:pPr>
                      <a:r>
                        <a:t>SHIELD Score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D2D7DF"/>
                          </a:solidFill>
                          <a:latin typeface="Arial"/>
                        </a:defRPr>
                      </a:pPr>
                      <a:r>
                        <a:t>APCER (Attack Error Rate)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1.2%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D2D7DF"/>
                          </a:solidFill>
                          <a:latin typeface="Arial"/>
                        </a:defRPr>
                      </a:pPr>
                      <a:r>
                        <a:t>BPCER (Bona Fide Error Rate)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0.8%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D2D7DF"/>
                          </a:solidFill>
                          <a:latin typeface="Arial"/>
                        </a:defRPr>
                      </a:pPr>
                      <a:r>
                        <a:t>ACER (Average Error Rate)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D2D7DF"/>
                          </a:solidFill>
                          <a:latin typeface="Arial"/>
                        </a:defRPr>
                      </a:pPr>
                      <a:r>
                        <a:t>End-to-End Inference Latency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85 ms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383280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979FF"/>
                </a:solidFill>
                <a:latin typeface="Arial"/>
              </a:defRPr>
            </a:pPr>
            <a:r>
              <a:t>📊 Experimental Evaluation Setup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▪️ Benchmarked against unified subsets of CASIA-FASD and CelebA-Spoof, containing over 10,000 frames under diverse ambient variables.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▪️ Verified streaming processing speed exceeding 30 FPS.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▪️ Optimized fusion weight configuration (10% rPPG, 10% Blink, 15% Antispoof, 65% Challenge) via programmatic grid-search.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cial_mesh_visual_17831851855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Novelty &amp; Custom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1. Real-Time Scale-Invariant Identity Consistency Check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Defeats mid-session candidate swapping (tag-team fraud):</a:t>
            </a:r>
            <a:br/>
            <a:r>
              <a:t>• Computes scale-invariant 4D geometric signature ratios (nose, eyes, chin, lip corners) using MediaPipe FaceMesh landmarks.</a:t>
            </a:r>
            <a:br/>
            <a:r>
              <a:t>• Signature distance is verified frame-by-frame. Websocket is killed immediately if signature drift exceeds threshold (&gt;0.20).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2. JPEG Compression Defenses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Enhances resilience against adversarial spatial noise attacks:</a:t>
            </a:r>
            <a:br/>
            <a:r>
              <a:t>• Integrates compression filters into the face crop step to cancel out artificial noise patterns generated by digital camera overlays.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3. Systematic Grid Search Optimization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• Evaluated 1,771 separate sensor weight parameter combinations mathematically to eliminate sub-model silence.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79FF"/>
                </a:solidFill>
                <a:latin typeface="Arial"/>
              </a:defRPr>
            </a:pPr>
            <a:r>
              <a:t>Interface Design &amp; Live Demonstration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5120640" cy="411480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📱 Interactive Flutter Telemetry Dashboard</a:t>
            </a:r>
          </a:p>
          <a:p>
            <a:pPr>
              <a:spcAft>
                <a:spcPts val="8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Quality Telemetry Guide: Interactive oval frame changing colors dynamically based on real-time quality parameters (Blur, Exposure, Pose).</a:t>
            </a:r>
          </a:p>
          <a:p>
            <a:pPr>
              <a:spcAft>
                <a:spcPts val="8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Explainable Biometrics: Displays clear confidence breakdowns for texture, biological rPPG, and active challenge scores in real-time.</a:t>
            </a:r>
          </a:p>
          <a:p>
            <a:pPr>
              <a:spcAft>
                <a:spcPts val="8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Secure Ingestion Gateway: Informs user of capture instructions prior to starting high-stakes verification flows.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2979FF"/>
                </a:solidFill>
                <a:latin typeface="Arial"/>
              </a:defRPr>
            </a:pPr>
            <a:r>
              <a:t>🎥 Live Demonstration Protocol</a:t>
            </a:r>
          </a:p>
          <a:p>
            <a:pPr>
              <a:spcBef>
                <a:spcPts val="500"/>
              </a:spcBef>
              <a:defRPr sz="1200">
                <a:solidFill>
                  <a:srgbClr val="D2D7DF"/>
                </a:solidFill>
                <a:latin typeface="Arial"/>
              </a:defRPr>
            </a:pPr>
            <a:r>
              <a:t>Websocket-based real-time capture and verification pipeline:</a:t>
            </a:r>
            <a:br/>
            <a:r>
              <a:t>1. Active Verification: Core session starts, requesting random user movements.</a:t>
            </a:r>
            <a:br/>
            <a:r>
              <a:t>2. Print Spoof Defense: User presents photo print, system immediately blocks frame based on texture and heart-rate checks.</a:t>
            </a:r>
            <a:br/>
            <a:r>
              <a:t>3. Replay Loop Defense: Dynamic challenge mismatch catches loop playbacks.</a:t>
            </a:r>
            <a:br/>
            <a:r>
              <a:t>4. Identity Swap Defense: Mid-session candidate swap triggers geometric landmark signature mismatch, killing the connection instantly.</a:t>
            </a:r>
            <a:br/>
            <a:br/>
            <a:r>
              <a:t>Execution logs and test coverage verify the robust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