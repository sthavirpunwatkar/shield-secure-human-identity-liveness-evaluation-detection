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200" b="1">
                <a:solidFill>
                  <a:srgbClr val="00205B"/>
                </a:solidFill>
                <a:latin typeface="Georgia"/>
              </a:defRPr>
            </a:pPr>
            <a:r>
              <a:t>SHIELD: A Multimodal Liveness Framework Securing Remote Identity Verification</a:t>
            </a:r>
          </a:p>
          <a:p>
            <a:pPr>
              <a:spcBef>
                <a:spcPts val="800"/>
              </a:spcBef>
              <a:defRPr sz="1500" i="1">
                <a:solidFill>
                  <a:srgbClr val="78828C"/>
                </a:solidFill>
                <a:latin typeface="Arial"/>
              </a:defRPr>
            </a:pPr>
            <a:r>
              <a:t>Executive Briefing on Automated Anti-Spoofing and Liveness Detection</a:t>
            </a:r>
          </a:p>
          <a:p>
            <a:pPr>
              <a:spcBef>
                <a:spcPts val="600"/>
              </a:spcBef>
              <a:defRPr sz="1100" b="1">
                <a:solidFill>
                  <a:srgbClr val="50555F"/>
                </a:solidFill>
                <a:latin typeface="Arial"/>
              </a:defRPr>
            </a:pPr>
            <a:r>
              <a:t>Project Partners: Sthavir Sunil Punwatkar, [Project Partner 2]  |  Project Guide: [Project Guide Name]</a:t>
            </a:r>
          </a:p>
          <a:p>
            <a:pPr>
              <a:spcBef>
                <a:spcPts val="400"/>
              </a:spcBef>
              <a:defRPr sz="1100">
                <a:solidFill>
                  <a:srgbClr val="78828C"/>
                </a:solidFill>
                <a:latin typeface="Arial"/>
              </a:defRPr>
            </a:pPr>
            <a:r>
              <a:t>CDAC Project Review Board  |  Domain: Biometrics &amp; Computer Vision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3383280" cy="36576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 bIns="182880"/>
          <a:lstStyle/>
          <a:p>
            <a:pPr algn="ctr">
              <a:defRPr sz="1100" b="1">
                <a:solidFill>
                  <a:srgbClr val="78828C"/>
                </a:solidFill>
                <a:latin typeface="Arial"/>
              </a:defRPr>
            </a:pPr>
            <a:r>
              <a:t>SITUATION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500" b="1">
                <a:solidFill>
                  <a:srgbClr val="00205B"/>
                </a:solidFill>
                <a:latin typeface="Georgia"/>
              </a:defRPr>
            </a:pPr>
            <a:r>
              <a:t>Remote Identity Verification</a:t>
            </a:r>
          </a:p>
          <a:p>
            <a:pPr>
              <a:spcBef>
                <a:spcPts val="400"/>
              </a:spcBef>
              <a:defRPr sz="1100">
                <a:solidFill>
                  <a:srgbClr val="212529"/>
                </a:solidFill>
                <a:latin typeface="Arial"/>
              </a:defRPr>
            </a:pPr>
            <a:r>
              <a:t>High-stakes digital platforms (virtual examinations, remote job interviews, and enterprise attendance tracking) rely increasingly on automated 2D webcam authentication pipelines to verify candidate presence.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2377440"/>
            <a:ext cx="3383280" cy="36576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 bIns="182880"/>
          <a:lstStyle/>
          <a:p>
            <a:pPr algn="ctr">
              <a:defRPr sz="1100" b="1">
                <a:solidFill>
                  <a:srgbClr val="78828C"/>
                </a:solidFill>
                <a:latin typeface="Arial"/>
              </a:defRPr>
            </a:pPr>
            <a:r>
              <a:t>COMPLICATION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500" b="1">
                <a:solidFill>
                  <a:srgbClr val="00205B"/>
                </a:solidFill>
                <a:latin typeface="Georgia"/>
              </a:defRPr>
            </a:pPr>
            <a:r>
              <a:t>Vulnerability to Spoof Attacks</a:t>
            </a:r>
          </a:p>
          <a:p>
            <a:pPr>
              <a:spcBef>
                <a:spcPts val="400"/>
              </a:spcBef>
              <a:defRPr sz="1100">
                <a:solidFill>
                  <a:srgbClr val="212529"/>
                </a:solidFill>
                <a:latin typeface="Arial"/>
              </a:defRPr>
            </a:pPr>
            <a:r>
              <a:t>Traditional facial recognition algorithms are highly vulnerable to presentation attacks—such as printed photos and digital replay screens—and mid-session identity swapping (tag-team authentication fraud).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83880" y="2377440"/>
            <a:ext cx="3383280" cy="36576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 bIns="182880"/>
          <a:lstStyle/>
          <a:p>
            <a:pPr algn="ctr">
              <a:defRPr sz="1100" b="1">
                <a:solidFill>
                  <a:srgbClr val="78828C"/>
                </a:solidFill>
                <a:latin typeface="Arial"/>
              </a:defRPr>
            </a:pPr>
            <a:r>
              <a:t>RESOLUTION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500" b="1">
                <a:solidFill>
                  <a:srgbClr val="00205B"/>
                </a:solidFill>
                <a:latin typeface="Georgia"/>
              </a:defRPr>
            </a:pPr>
            <a:r>
              <a:t>Multi-Layered Biometric Fusion</a:t>
            </a:r>
          </a:p>
          <a:p>
            <a:pPr>
              <a:spcBef>
                <a:spcPts val="400"/>
              </a:spcBef>
              <a:defRPr sz="1100">
                <a:solidFill>
                  <a:srgbClr val="212529"/>
                </a:solidFill>
                <a:latin typeface="Arial"/>
              </a:defRPr>
            </a:pPr>
            <a:r>
              <a:t>SHIELD integrates passive spatial texture analysis, biological rPPG heart rate tracking, and active challenge directives into a unified, low-latency fusion framework processing video under &lt;100ms.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0205B"/>
                </a:solidFill>
                <a:latin typeface="Georgia"/>
              </a:defRPr>
            </a:pPr>
            <a:r>
              <a:t>Objectives: Building an Edge-Deployable, ISO-Compliant Biometric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205B"/>
                </a:solidFill>
                <a:latin typeface="Georgia"/>
              </a:defRPr>
            </a:pPr>
            <a:r>
              <a:t>🎯 Core Objectives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  <a:latin typeface="Arial"/>
              </a:defRPr>
            </a:pPr>
            <a:r>
              <a:t>• Develop an end-to-end, real-time liveness pipeline processing multi-layered verification streams in &lt;100ms.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  <a:latin typeface="Arial"/>
              </a:defRPr>
            </a:pPr>
            <a:r>
              <a:t>• Implement non-intrusive biological checks by extracting blood volume pulse (BVP) from standard RGB video feeds (rPPG).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  <a:latin typeface="Arial"/>
              </a:defRPr>
            </a:pPr>
            <a:r>
              <a:t>• Introduce randomized active challenge-response tasks combined with frame validation to counter pre-recorded replays.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  <a:latin typeface="Arial"/>
              </a:defRPr>
            </a:pPr>
            <a:r>
              <a:t>• Construct an explainable multi-modal decision fusion engine to facilitate detailed audit trails.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205B"/>
                </a:solidFill>
                <a:latin typeface="Georgia"/>
              </a:defRPr>
            </a:pPr>
            <a:r>
              <a:t>⚙️ Engineering Targets &amp; KPIs</a:t>
            </a:r>
          </a:p>
          <a:p>
            <a:pPr>
              <a:spcBef>
                <a:spcPts val="800"/>
              </a:spcBef>
              <a:defRPr sz="1400" b="1">
                <a:solidFill>
                  <a:srgbClr val="78828C"/>
                </a:solidFill>
                <a:latin typeface="Arial"/>
              </a:defRPr>
            </a:pPr>
            <a:r>
              <a:t>▪️ ISO/IEC 30107-3 Standard Adherence</a:t>
            </a:r>
          </a:p>
          <a:p>
            <a:pPr>
              <a:spcAft>
                <a:spcPts val="6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Deliver an ACER (Average Classification Error Rate) under 1.5% to verify enterprise-level security.</a:t>
            </a:r>
          </a:p>
          <a:p>
            <a:pPr>
              <a:spcBef>
                <a:spcPts val="800"/>
              </a:spcBef>
              <a:defRPr sz="1400" b="1">
                <a:solidFill>
                  <a:srgbClr val="78828C"/>
                </a:solidFill>
                <a:latin typeface="Arial"/>
              </a:defRPr>
            </a:pPr>
            <a:r>
              <a:t>▪️ Edge-Deployable Performance</a:t>
            </a:r>
          </a:p>
          <a:p>
            <a:pPr>
              <a:spcAft>
                <a:spcPts val="6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Optimize inference workloads to support execution in under 100ms on consumer-grade CPUs.</a:t>
            </a:r>
          </a:p>
          <a:p>
            <a:pPr>
              <a:spcBef>
                <a:spcPts val="800"/>
              </a:spcBef>
              <a:defRPr sz="1400" b="1">
                <a:solidFill>
                  <a:srgbClr val="78828C"/>
                </a:solidFill>
                <a:latin typeface="Arial"/>
              </a:defRPr>
            </a:pPr>
            <a:r>
              <a:t>▪️ Zero-Dependency RGB Deployment</a:t>
            </a:r>
          </a:p>
          <a:p>
            <a:pPr>
              <a:spcAft>
                <a:spcPts val="6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Perform biological, texture, and active checks using simple 2D webcams without dedicated sensors.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0205B"/>
                </a:solidFill>
                <a:latin typeface="Georgia"/>
              </a:defRPr>
            </a:pPr>
            <a:r>
              <a:t>Architecture: Multi-Tiered Verification Processing Raw Webcam Frames to Final Score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0205B"/>
                </a:solidFill>
                <a:latin typeface="Georgia"/>
              </a:defRPr>
            </a:pPr>
            <a:r>
              <a:t>⚙️ Modular Data Pipeline</a:t>
            </a:r>
          </a:p>
          <a:p>
            <a:pPr>
              <a:spcAft>
                <a:spcPts val="10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• A modular layer architecture styled after high-performance neural blocks (like Transformer stacks).</a:t>
            </a:r>
          </a:p>
          <a:p>
            <a:pPr>
              <a:spcAft>
                <a:spcPts val="10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• Frames pass sequentially through detection, validation, and quality gates before running parallel inferences.</a:t>
            </a:r>
          </a:p>
          <a:p>
            <a:pPr>
              <a:spcAft>
                <a:spcPts val="10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• Texture (Spatial), Physiology (Biological BVP), and Challenge (Temporal Actions) operate as distinct pipelines.</a:t>
            </a:r>
          </a:p>
          <a:p>
            <a:pPr>
              <a:spcAft>
                <a:spcPts val="10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• Decision Fusion acts as the linear convergence layer to calculate output probabilities.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1005840"/>
            <a:ext cx="2011680" cy="36576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00205B"/>
                </a:solidFill>
                <a:latin typeface="Arial"/>
              </a:defRPr>
            </a:pPr>
            <a:r>
              <a:t>Video Frames (BGR stream)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0" y="1371600"/>
            <a:ext cx="0" cy="182880"/>
          </a:xfrm>
          <a:prstGeom prst="line">
            <a:avLst/>
          </a:prstGeom>
          <a:ln w="1524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766560" y="1554480"/>
            <a:ext cx="2011680" cy="36576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00205B"/>
                </a:solidFill>
                <a:latin typeface="Arial"/>
              </a:defRPr>
            </a:pPr>
            <a:r>
              <a:t>YOLOv8-Face Detection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0" y="1920240"/>
            <a:ext cx="0" cy="182880"/>
          </a:xfrm>
          <a:prstGeom prst="line">
            <a:avLst/>
          </a:prstGeom>
          <a:ln w="1524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766560" y="2103120"/>
            <a:ext cx="2011680" cy="36576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00205B"/>
                </a:solidFill>
                <a:latin typeface="Arial"/>
              </a:defRPr>
            </a:pPr>
            <a:r>
              <a:t>Signal Quality Filter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651760"/>
            <a:ext cx="6217920" cy="1645920"/>
          </a:xfrm>
          <a:prstGeom prst="roundRect">
            <a:avLst/>
          </a:prstGeom>
          <a:solidFill>
            <a:srgbClr val="F5F6F8"/>
          </a:solidFill>
          <a:ln w="1905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78440" y="32004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205B"/>
                </a:solidFill>
                <a:latin typeface="Arial"/>
              </a:defRPr>
            </a:pPr>
            <a:r>
              <a:t>3x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834640"/>
            <a:ext cx="1645920" cy="10972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Passive Texture 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834640"/>
            <a:ext cx="1645920" cy="10972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Physiological rPPG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834640"/>
            <a:ext cx="1645920" cy="10972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Active Challenges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0" y="2468880"/>
            <a:ext cx="0" cy="365760"/>
          </a:xfrm>
          <a:prstGeom prst="line">
            <a:avLst/>
          </a:prstGeom>
          <a:ln w="1524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760720" y="2468880"/>
            <a:ext cx="2011680" cy="365760"/>
          </a:xfrm>
          <a:prstGeom prst="bentConnector3">
            <a:avLst/>
          </a:prstGeom>
          <a:ln w="1524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72400" y="2468880"/>
            <a:ext cx="2011680" cy="365760"/>
          </a:xfrm>
          <a:prstGeom prst="bentConnector3">
            <a:avLst/>
          </a:prstGeom>
          <a:ln w="1524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766560" y="4480560"/>
            <a:ext cx="2011680" cy="36576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00205B"/>
                </a:solidFill>
                <a:latin typeface="Arial"/>
              </a:defRPr>
            </a:pPr>
            <a:r>
              <a:t>Weighted Decision Fusion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60720" y="3931920"/>
            <a:ext cx="2011680" cy="548640"/>
          </a:xfrm>
          <a:prstGeom prst="bentConnector3">
            <a:avLst/>
          </a:prstGeom>
          <a:ln w="1524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72400" y="3931920"/>
            <a:ext cx="0" cy="548640"/>
          </a:xfrm>
          <a:prstGeom prst="line">
            <a:avLst/>
          </a:prstGeom>
          <a:ln w="1524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772400" y="3931920"/>
            <a:ext cx="2011680" cy="548640"/>
          </a:xfrm>
          <a:prstGeom prst="bentConnector3">
            <a:avLst/>
          </a:prstGeom>
          <a:ln w="1524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766560" y="5029200"/>
            <a:ext cx="2011680" cy="36576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00205B"/>
                </a:solidFill>
                <a:latin typeface="Arial"/>
              </a:defRPr>
            </a:pPr>
            <a:r>
              <a:t>Linear Decision Threshold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72400" y="5394960"/>
            <a:ext cx="0" cy="182880"/>
          </a:xfrm>
          <a:prstGeom prst="line">
            <a:avLst/>
          </a:prstGeom>
          <a:ln w="1524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766560" y="5577840"/>
            <a:ext cx="2011680" cy="365760"/>
          </a:xfrm>
          <a:prstGeom prst="roundRect">
            <a:avLst/>
          </a:prstGeom>
          <a:solidFill>
            <a:srgbClr val="00205B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Output Verdict (Live/Spoof)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0205B"/>
                </a:solidFill>
                <a:latin typeface="Georgia"/>
              </a:defRPr>
            </a:pPr>
            <a:r>
              <a:t>Defense Pillars: Combining Spatial Textures, Cardiac Physiology, and Active Directives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246888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00205B"/>
                </a:solidFill>
                <a:latin typeface="Georgia"/>
              </a:defRPr>
            </a:pPr>
            <a:r>
              <a:t>1. Passive Texture</a:t>
            </a:r>
          </a:p>
          <a:p>
            <a:pPr>
              <a:spcAft>
                <a:spcPts val="1200"/>
              </a:spcAft>
              <a:defRPr sz="900" b="1">
                <a:solidFill>
                  <a:srgbClr val="78828C"/>
                </a:solidFill>
                <a:latin typeface="Arial"/>
              </a:defRPr>
            </a:pPr>
            <a:r>
              <a:t>SPATIAL TEXTURES</a:t>
            </a:r>
          </a:p>
          <a:p>
            <a:pPr>
              <a:spcBef>
                <a:spcPts val="500"/>
              </a:spcBef>
              <a:defRPr sz="1150">
                <a:solidFill>
                  <a:srgbClr val="212529"/>
                </a:solidFill>
                <a:latin typeface="Arial"/>
              </a:defRPr>
            </a:pPr>
            <a:r>
              <a:t>MiniFASNet CNN classification parsing high-frequency surface patterns to detect print paper/screen structures.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46888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00205B"/>
                </a:solidFill>
                <a:latin typeface="Georgia"/>
              </a:defRPr>
            </a:pPr>
            <a:r>
              <a:t>2. Physiological rPPG</a:t>
            </a:r>
          </a:p>
          <a:p>
            <a:pPr>
              <a:spcAft>
                <a:spcPts val="1200"/>
              </a:spcAft>
              <a:defRPr sz="900" b="1">
                <a:solidFill>
                  <a:srgbClr val="78828C"/>
                </a:solidFill>
                <a:latin typeface="Arial"/>
              </a:defRPr>
            </a:pPr>
            <a:r>
              <a:t>HEART RATE PULSE</a:t>
            </a:r>
          </a:p>
          <a:p>
            <a:pPr>
              <a:spcBef>
                <a:spcPts val="500"/>
              </a:spcBef>
              <a:defRPr sz="1150">
                <a:solidFill>
                  <a:srgbClr val="212529"/>
                </a:solidFill>
                <a:latin typeface="Arial"/>
              </a:defRPr>
            </a:pPr>
            <a:r>
              <a:t>3D spatio-temporal CNN extracting cardiac micro-signals from skin color shifts to verify living tissue.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246888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00205B"/>
                </a:solidFill>
                <a:latin typeface="Georgia"/>
              </a:defRPr>
            </a:pPr>
            <a:r>
              <a:t>3. Active Challenges</a:t>
            </a:r>
          </a:p>
          <a:p>
            <a:pPr>
              <a:spcAft>
                <a:spcPts val="1200"/>
              </a:spcAft>
              <a:defRPr sz="900" b="1">
                <a:solidFill>
                  <a:srgbClr val="78828C"/>
                </a:solidFill>
                <a:latin typeface="Arial"/>
              </a:defRPr>
            </a:pPr>
            <a:r>
              <a:t>CHALLENGE ACTIONS</a:t>
            </a:r>
          </a:p>
          <a:p>
            <a:pPr>
              <a:spcBef>
                <a:spcPts val="500"/>
              </a:spcBef>
              <a:defRPr sz="1150">
                <a:solidFill>
                  <a:srgbClr val="212529"/>
                </a:solidFill>
                <a:latin typeface="Arial"/>
              </a:defRPr>
            </a:pPr>
            <a:r>
              <a:t>Randomized directives (Blink, Turn, Smile) validated dynamically to establish immediate user cooperation.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645920"/>
            <a:ext cx="2468880" cy="411480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00205B"/>
                </a:solidFill>
                <a:latin typeface="Georgia"/>
              </a:defRPr>
            </a:pPr>
            <a:r>
              <a:t>4. Temporal Validator</a:t>
            </a:r>
          </a:p>
          <a:p>
            <a:pPr>
              <a:spcAft>
                <a:spcPts val="1200"/>
              </a:spcAft>
              <a:defRPr sz="900" b="1">
                <a:solidFill>
                  <a:srgbClr val="78828C"/>
                </a:solidFill>
                <a:latin typeface="Arial"/>
              </a:defRPr>
            </a:pPr>
            <a:r>
              <a:t>TEMPORAL CUTS</a:t>
            </a:r>
          </a:p>
          <a:p>
            <a:pPr>
              <a:spcBef>
                <a:spcPts val="500"/>
              </a:spcBef>
              <a:defRPr sz="1150">
                <a:solidFill>
                  <a:srgbClr val="212529"/>
                </a:solidFill>
                <a:latin typeface="Arial"/>
              </a:defRPr>
            </a:pPr>
            <a:r>
              <a:t>Time-series integrity checking to trace jump-cuts and confirm time sync between challenge events.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0205B"/>
                </a:solidFill>
                <a:latin typeface="Georgia"/>
              </a:defRPr>
            </a:pPr>
            <a:r>
              <a:t>Results: SHIELD Exceeds Enterprise Standards with 1.0% ACER at 85ms Latency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71600"/>
          <a:ext cx="51206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205B"/>
                          </a:solidFill>
                          <a:latin typeface="Arial"/>
                        </a:defRPr>
                      </a:pPr>
                      <a:r>
                        <a:t>Metric Parameter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205B"/>
                          </a:solidFill>
                          <a:latin typeface="Arial"/>
                        </a:defRPr>
                      </a:pPr>
                      <a:r>
                        <a:t>SHIELD Score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APCER (Attack Error Rate)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5B"/>
                          </a:solidFill>
                          <a:latin typeface="Arial"/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BPCER (Bona Fide Error Rate)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5B"/>
                          </a:solidFill>
                          <a:latin typeface="Arial"/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ACER (Average Error Rate)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5B"/>
                          </a:solidFill>
                          <a:latin typeface="Arial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529"/>
                          </a:solidFill>
                          <a:latin typeface="Arial"/>
                        </a:defRPr>
                      </a:pPr>
                      <a:r>
                        <a:t>End-to-End Inference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0205B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00205B"/>
                </a:solidFill>
                <a:latin typeface="Georgia"/>
              </a:defRPr>
            </a:pPr>
            <a:r>
              <a:t>📊 ISO/IEC 30107-3 Standard Metrics</a:t>
            </a:r>
          </a:p>
          <a:p>
            <a:pPr>
              <a:spcAft>
                <a:spcPts val="8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• APCER: Attack Presentation Classification Error Rate. Measures the % of spoof attacks incorrectly classified as live.</a:t>
            </a:r>
          </a:p>
          <a:p>
            <a:pPr>
              <a:spcAft>
                <a:spcPts val="8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• BPCER: Bona Fide Presentation Classification Error Rate. Measures the % of genuine live users incorrectly flagged as spoofs.</a:t>
            </a:r>
          </a:p>
          <a:p>
            <a:pPr>
              <a:spcAft>
                <a:spcPts val="8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• ACER: Average Classification Error Rate. Calculated as the average of APCER and BPCER: ACER = (APCER + BPCER) / 2.</a:t>
            </a:r>
          </a:p>
          <a:p>
            <a:pPr>
              <a:spcAft>
                <a:spcPts val="800"/>
              </a:spcAft>
              <a:defRPr sz="1200">
                <a:solidFill>
                  <a:srgbClr val="212529"/>
                </a:solidFill>
                <a:latin typeface="Arial"/>
              </a:defRPr>
            </a:pPr>
            <a:r>
              <a:t>• Empirical Calibration: System weights tuned via 1,771 test combinations under min_weight=0.10 constraint to achieve 1.0% ACER.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0205B"/>
                </a:solidFill>
                <a:latin typeface="Georgia"/>
              </a:defRPr>
            </a:pPr>
            <a:r>
              <a:t>Novelty: Scale-Invariant Landmarks Block Candidate Swapping and Adversarial Noise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817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0205B"/>
                </a:solidFill>
                <a:latin typeface="Georgia"/>
              </a:defRPr>
            </a:pPr>
            <a:r>
              <a:t>1. Real-Time Scale-Invariant Identity Consistency Check</a:t>
            </a:r>
          </a:p>
          <a:p>
            <a:pPr>
              <a:spcAft>
                <a:spcPts val="800"/>
              </a:spcAft>
              <a:defRPr sz="1250">
                <a:solidFill>
                  <a:srgbClr val="212529"/>
                </a:solidFill>
                <a:latin typeface="Arial"/>
              </a:defRPr>
            </a:pPr>
            <a:r>
              <a:t>Defeats mid-session candidate swapping (tag-team fraud):</a:t>
            </a:r>
            <a:br/>
            <a:r>
              <a:t>• Computes scale-invariant 4D geometric signature ratios (nose, eyes, chin, lip corners) using MediaPipe FaceMesh landmarks.</a:t>
            </a:r>
            <a:br/>
            <a:r>
              <a:t>• Signature distance is verified frame-by-frame. Websocket is killed immediately if signature drift exceeds threshold (&gt;0.20).</a:t>
            </a:r>
          </a:p>
          <a:p>
            <a:pPr>
              <a:spcBef>
                <a:spcPts val="1200"/>
              </a:spcBef>
              <a:defRPr sz="1600" b="1">
                <a:solidFill>
                  <a:srgbClr val="00205B"/>
                </a:solidFill>
                <a:latin typeface="Georgia"/>
              </a:defRPr>
            </a:pPr>
            <a:r>
              <a:t>2. JPEG Compression Defenses</a:t>
            </a:r>
          </a:p>
          <a:p>
            <a:pPr>
              <a:spcAft>
                <a:spcPts val="800"/>
              </a:spcAft>
              <a:defRPr sz="1250">
                <a:solidFill>
                  <a:srgbClr val="212529"/>
                </a:solidFill>
                <a:latin typeface="Arial"/>
              </a:defRPr>
            </a:pPr>
            <a:r>
              <a:t>Enhances resilience against adversarial spatial noise attacks:</a:t>
            </a:r>
            <a:br/>
            <a:r>
              <a:t>• Integrates compression filters into the face crop step to cancel out artificial noise patterns generated by digital camera overlays.</a:t>
            </a:r>
          </a:p>
          <a:p>
            <a:pPr>
              <a:spcBef>
                <a:spcPts val="1200"/>
              </a:spcBef>
              <a:defRPr sz="1600" b="1">
                <a:solidFill>
                  <a:srgbClr val="00205B"/>
                </a:solidFill>
                <a:latin typeface="Georgia"/>
              </a:defRPr>
            </a:pPr>
            <a:r>
              <a:t>3. Systematic Grid Search Optimization</a:t>
            </a:r>
          </a:p>
          <a:p>
            <a:pPr>
              <a:spcAft>
                <a:spcPts val="800"/>
              </a:spcAft>
              <a:defRPr sz="1250">
                <a:solidFill>
                  <a:srgbClr val="212529"/>
                </a:solidFill>
                <a:latin typeface="Arial"/>
              </a:defRPr>
            </a:pPr>
            <a:r>
              <a:t>• Evaluated 1,771 separate sensor weight parameter combinations mathematically to eliminate sub-model silence.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0205B"/>
                </a:solidFill>
                <a:latin typeface="Georgia"/>
              </a:defRPr>
            </a:pPr>
            <a:r>
              <a:t>Deployment: Flutter Dashboard and WebSocket Ingestion Enable Seamless Live Audit Trails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5120640" cy="438912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00205B"/>
                </a:solidFill>
                <a:latin typeface="Georgia"/>
              </a:defRPr>
            </a:pPr>
            <a:r>
              <a:t>📱 Interactive Flutter Telemetry Dashboard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  <a:latin typeface="Arial"/>
              </a:defRPr>
            </a:pPr>
            <a:r>
              <a:t>• Quality Telemetry Guide: Interactive oval frame changing colors dynamically based on real-time quality parameters (Blur, Exposure, Pose).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  <a:latin typeface="Arial"/>
              </a:defRPr>
            </a:pPr>
            <a:r>
              <a:t>• Explainable Biometrics: Displays clear confidence breakdowns for texture, biological rPPG, and active challenge scores in real-time.</a:t>
            </a:r>
          </a:p>
          <a:p>
            <a:pPr>
              <a:spcAft>
                <a:spcPts val="800"/>
              </a:spcAft>
              <a:defRPr sz="1300">
                <a:solidFill>
                  <a:srgbClr val="212529"/>
                </a:solidFill>
                <a:latin typeface="Arial"/>
              </a:defRPr>
            </a:pPr>
            <a:r>
              <a:t>• Secure Ingestion Gateway: Informs user of capture instructions prior to starting high-stakes verification flows.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5F6F8"/>
          </a:solidFill>
          <a:ln w="12700">
            <a:solidFill>
              <a:srgbClr val="C8CD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00205B"/>
                </a:solidFill>
                <a:latin typeface="Georgia"/>
              </a:defRPr>
            </a:pPr>
            <a:r>
              <a:t>🎥 Live Demonstration Protocol</a:t>
            </a:r>
          </a:p>
          <a:p>
            <a:pPr>
              <a:spcBef>
                <a:spcPts val="500"/>
              </a:spcBef>
              <a:defRPr sz="1200">
                <a:solidFill>
                  <a:srgbClr val="212529"/>
                </a:solidFill>
                <a:latin typeface="Arial"/>
              </a:defRPr>
            </a:pPr>
            <a:r>
              <a:t>Websocket-based real-time capture and verification pipeline:</a:t>
            </a:r>
            <a:br/>
            <a:r>
              <a:t>1. Active Verification: Core session starts, requesting random user movements.</a:t>
            </a:r>
            <a:br/>
            <a:r>
              <a:t>2. Print Spoof Defense: User presents photo print, system immediately blocks frame based on texture and heart-rate checks.</a:t>
            </a:r>
            <a:br/>
            <a:r>
              <a:t>3. Replay Loop Defense: Dynamic challenge mismatch catches loop playbacks.</a:t>
            </a:r>
            <a:br/>
            <a:r>
              <a:t>4. Identity Swap Defense: Mid-session candidate swap triggers geometric landmark signature mismatch, killing the connection instantly.</a:t>
            </a:r>
            <a:br/>
            <a:br/>
            <a:r>
              <a:t>Execution logs and test coverage verify the robust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