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_cover_visual_17831851709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7315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D2FF"/>
                </a:solidFill>
                <a:latin typeface="Arial"/>
              </a:defRPr>
            </a:pPr>
            <a:r>
              <a:t>SHIELD</a:t>
            </a:r>
          </a:p>
          <a:p>
            <a:pPr>
              <a:spcBef>
                <a:spcPts val="800"/>
              </a:spcBef>
              <a:defRPr sz="2000" b="1">
                <a:solidFill>
                  <a:srgbClr val="F0F0F0"/>
                </a:solidFill>
                <a:latin typeface="Arial"/>
              </a:defRPr>
            </a:pPr>
            <a:r>
              <a:t>Secure Human Identity &amp; Liveness Evaluation Detection</a:t>
            </a:r>
          </a:p>
          <a:p>
            <a:pPr>
              <a:spcBef>
                <a:spcPts val="800"/>
              </a:spcBef>
              <a:defRPr sz="1300">
                <a:solidFill>
                  <a:srgbClr val="96A0AF"/>
                </a:solidFill>
                <a:latin typeface="Arial"/>
              </a:defRPr>
            </a:pPr>
            <a:r>
              <a:t>CDAC Project Review  |  Anti-Spoofing &amp; Biometrics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926080"/>
            <a:ext cx="5029200" cy="3200400"/>
          </a:xfrm>
          <a:prstGeom prst="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PROBLEM STATEMENT</a:t>
            </a:r>
          </a:p>
          <a:p>
            <a:pPr>
              <a:spcBef>
                <a:spcPts val="8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Identity fraud compromises remote verification systems:</a:t>
            </a:r>
            <a:br/>
            <a:r>
              <a:t>• Spoof Attacks: Printed photos, screen video replays, and 3D silicone masks bypass typical biometrics.</a:t>
            </a:r>
            <a:br/>
            <a:r>
              <a:t>• Identity Swap Attacks: Users swap mid-session (tag-team attacks) during active sessions.</a:t>
            </a:r>
            <a:br/>
            <a:r>
              <a:t>• Hardware Constraints: Existing defenses rely on costly 3D depth cameras, limiting massive deployments.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FFAA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Develop an end-to-end, ultra-low latency (&lt;100ms) multi-layered pipeline for biometric verification.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Implement non-intrusive biological checks (physiological heart-rate validation via rPPG) without dedicated sensors.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Construct interactive active challenge-response tasks preventing pre-recorded synthetic deepfakes.</a:t>
            </a:r>
          </a:p>
          <a:p>
            <a:pPr>
              <a:spcAft>
                <a:spcPts val="12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• Establish an explainable fusion architecture to provide forensic audit capability for each verification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0D2FF"/>
                </a:solidFill>
                <a:latin typeface="Arial"/>
              </a:defRPr>
            </a:pPr>
            <a:r>
              <a:t>⚡ Engineering Target KPIs</a:t>
            </a:r>
          </a:p>
          <a:p>
            <a:pPr>
              <a:spcBef>
                <a:spcPts val="1000"/>
              </a:spcBef>
              <a:defRPr sz="1600" b="1">
                <a:solidFill>
                  <a:srgbClr val="F0F0F0"/>
                </a:solidFill>
                <a:latin typeface="Arial"/>
              </a:defRPr>
            </a:pPr>
            <a:r>
              <a:t>🔹 ISO/IEC 30107-3 Standard Compliance</a:t>
            </a:r>
          </a:p>
          <a:p>
            <a:pPr>
              <a:spcAft>
                <a:spcPts val="800"/>
              </a:spcAft>
              <a:defRPr sz="1300">
                <a:solidFill>
                  <a:srgbClr val="96A0AF"/>
                </a:solidFill>
                <a:latin typeface="Arial"/>
              </a:defRPr>
            </a:pPr>
            <a:r>
              <a:t>Targeting ACER (Average Classification Error Rate) below 1.5% to beat enterprise systems.</a:t>
            </a:r>
          </a:p>
          <a:p>
            <a:pPr>
              <a:spcBef>
                <a:spcPts val="1000"/>
              </a:spcBef>
              <a:defRPr sz="1600" b="1">
                <a:solidFill>
                  <a:srgbClr val="F0F0F0"/>
                </a:solidFill>
                <a:latin typeface="Arial"/>
              </a:defRPr>
            </a:pPr>
            <a:r>
              <a:t>🔹 Edge-Compatible Latency Profiles</a:t>
            </a:r>
          </a:p>
          <a:p>
            <a:pPr>
              <a:spcAft>
                <a:spcPts val="800"/>
              </a:spcAft>
              <a:defRPr sz="1300">
                <a:solidFill>
                  <a:srgbClr val="96A0AF"/>
                </a:solidFill>
                <a:latin typeface="Arial"/>
              </a:defRPr>
            </a:pPr>
            <a:r>
              <a:t>Ensure end-to-end processing (detection, crops, fusion, classification) runs in less than 100ms on CPU.</a:t>
            </a:r>
          </a:p>
          <a:p>
            <a:pPr>
              <a:spcBef>
                <a:spcPts val="1000"/>
              </a:spcBef>
              <a:defRPr sz="1600" b="1">
                <a:solidFill>
                  <a:srgbClr val="F0F0F0"/>
                </a:solidFill>
                <a:latin typeface="Arial"/>
              </a:defRPr>
            </a:pPr>
            <a:r>
              <a:t>🔹 Zero-Dependency Webcam Deployment</a:t>
            </a:r>
          </a:p>
          <a:p>
            <a:pPr>
              <a:spcAft>
                <a:spcPts val="800"/>
              </a:spcAft>
              <a:defRPr sz="1300">
                <a:solidFill>
                  <a:srgbClr val="96A0AF"/>
                </a:solidFill>
                <a:latin typeface="Arial"/>
              </a:defRPr>
            </a:pPr>
            <a:r>
              <a:t>Operate smoothly over normal RGB standard 2D webcams, eliminating hardware friction.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System Architecture &amp;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Arial"/>
              </a:defRPr>
            </a:pPr>
            <a:r>
              <a:t>Camera Capture  ➡️  YOLOv8 Face Detection  ➡️  Signal Quality Gate  ➡️  Multimodal Inference  ➡️  Decision Fusion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CNN INFERENCE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MiniFASNet CNN analyzing high-frequency texture cues to distinguish human skin from printed papers or screen pixels.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BIOLOGICAL PULSE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3D Spatio-Temporal CNN extracting blood volume pulse (BVP) from blood flow micro-fluctuations in skin.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CHALLENGE-RESPONSE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Randomized directives (Smile, Blink, Turn) generated by ChallengeEngine to ensure presence.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2286000"/>
            <a:ext cx="2468880" cy="384048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600" b="1">
                <a:solidFill>
                  <a:srgbClr val="00FFAA"/>
                </a:solidFill>
                <a:latin typeface="Arial"/>
              </a:defRPr>
            </a:pPr>
            <a:r>
              <a:t>4. Temporal Audit</a:t>
            </a:r>
          </a:p>
          <a:p>
            <a:pPr>
              <a:spcAft>
                <a:spcPts val="1000"/>
              </a:spcAft>
              <a:defRPr sz="1000" b="1">
                <a:solidFill>
                  <a:srgbClr val="96A0AF"/>
                </a:solidFill>
                <a:latin typeface="Arial"/>
              </a:defRPr>
            </a:pPr>
            <a:r>
              <a:t>JUMP-CUT CHECK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TemporalValidator matching challenge execution times and checking for jump-cut manipulations.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emetry_visual_17831851987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Results &amp; Evaluation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8872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Metric Name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APCER (Attack Error)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BPCER (Bona Fide Error)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ACER (Average Error)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FFAA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38328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FFAA"/>
                </a:solidFill>
                <a:latin typeface="Arial"/>
              </a:defRPr>
            </a:pPr>
            <a:r>
              <a:t>📊 Dataset &amp; Optimization Results</a:t>
            </a:r>
          </a:p>
          <a:p>
            <a:pPr>
              <a:spcAft>
                <a:spcPts val="600"/>
              </a:spcAft>
              <a:defRPr sz="1100">
                <a:solidFill>
                  <a:srgbClr val="F0F0F0"/>
                </a:solidFill>
                <a:latin typeface="Arial"/>
              </a:defRPr>
            </a:pPr>
            <a:r>
              <a:t>• Tested on unified sets of CASIA-FASD and CelebA-Spoof datasets, comprising over 10,000 frames.</a:t>
            </a:r>
          </a:p>
          <a:p>
            <a:pPr>
              <a:spcAft>
                <a:spcPts val="600"/>
              </a:spcAft>
              <a:defRPr sz="1100">
                <a:solidFill>
                  <a:srgbClr val="F0F0F0"/>
                </a:solidFill>
                <a:latin typeface="Arial"/>
              </a:defRPr>
            </a:pPr>
            <a:r>
              <a:t>• Real-Time evaluation verified WebSockets frame streaming rate above 30 FPS.</a:t>
            </a:r>
          </a:p>
          <a:p>
            <a:pPr>
              <a:spcAft>
                <a:spcPts val="600"/>
              </a:spcAft>
              <a:defRPr sz="1100">
                <a:solidFill>
                  <a:srgbClr val="F0F0F0"/>
                </a:solidFill>
                <a:latin typeface="Arial"/>
              </a:defRPr>
            </a:pPr>
            <a:r>
              <a:t>• Weighted Decision Fusion: Calibrated dynamically using grid search over 1,771 separate sensor weight parameter combinations.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al_mesh_visual_1783185185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Novelty &amp; Key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00FFAA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Aft>
                <a:spcPts val="600"/>
              </a:spcAft>
              <a:defRPr sz="1100">
                <a:solidFill>
                  <a:srgbClr val="F0F0F0"/>
                </a:solidFill>
                <a:latin typeface="Arial"/>
              </a:defRPr>
            </a:pPr>
            <a:r>
              <a:t>Defeats mid-session user swaps (tag-team candidate swaps):</a:t>
            </a:r>
            <a:br/>
            <a:r>
              <a:t>• Computes scale-invariant 4D signature ratios (nose, eyes, chin, lip corners) via MediaPipe FaceMesh geometry.</a:t>
            </a:r>
            <a:br/>
            <a:r>
              <a:t>• Distance is tracked frame-by-frame. Connection immediately killed and flagged if signature variation exceeds threshold (&gt;0.20).</a:t>
            </a:r>
          </a:p>
          <a:p>
            <a:pPr>
              <a:spcBef>
                <a:spcPts val="800"/>
              </a:spcBef>
              <a:defRPr sz="1400" b="1">
                <a:solidFill>
                  <a:srgbClr val="00FFAA"/>
                </a:solidFill>
                <a:latin typeface="Arial"/>
              </a:defRPr>
            </a:pPr>
            <a:r>
              <a:t>2. JPEG Compression Noise Defenses</a:t>
            </a:r>
          </a:p>
          <a:p>
            <a:pPr>
              <a:spcAft>
                <a:spcPts val="600"/>
              </a:spcAft>
              <a:defRPr sz="1100">
                <a:solidFill>
                  <a:srgbClr val="F0F0F0"/>
                </a:solidFill>
                <a:latin typeface="Arial"/>
              </a:defRPr>
            </a:pPr>
            <a:r>
              <a:t>Filters high-frequency adversarial texture attacks:</a:t>
            </a:r>
            <a:br/>
            <a:r>
              <a:t>• Integrates compression filtering directly into the crop stages to wipe out artificial noise artifacts used by adversarial camera filters.</a:t>
            </a:r>
          </a:p>
          <a:p>
            <a:pPr>
              <a:spcBef>
                <a:spcPts val="800"/>
              </a:spcBef>
              <a:defRPr sz="1400" b="1">
                <a:solidFill>
                  <a:srgbClr val="00FFAA"/>
                </a:solidFill>
                <a:latin typeface="Arial"/>
              </a:defRPr>
            </a:pPr>
            <a:r>
              <a:t>3. Decision Fusion Engine Calibration</a:t>
            </a:r>
          </a:p>
          <a:p>
            <a:pPr>
              <a:spcAft>
                <a:spcPts val="600"/>
              </a:spcAft>
              <a:defRPr sz="1100">
                <a:solidFill>
                  <a:srgbClr val="F0F0F0"/>
                </a:solidFill>
                <a:latin typeface="Arial"/>
              </a:defRPr>
            </a:pPr>
            <a:r>
              <a:t>• Optimized decision fusion weights (10% rPPG, 10% Blink, 15% Antispoof, and 65% Challenge) via multi-constraint grid search.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2FF"/>
                </a:solidFill>
                <a:latin typeface="Arial"/>
              </a:defRPr>
            </a:pPr>
            <a:r>
              <a:t>Interface Design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00FFAA"/>
                </a:solidFill>
                <a:latin typeface="Arial"/>
              </a:defRPr>
            </a:pPr>
            <a:r>
              <a:t>📱 Immersive Flutter Telemetry Panel</a:t>
            </a:r>
          </a:p>
          <a:p>
            <a:pPr>
              <a:spcAft>
                <a:spcPts val="8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• Real-Time Guidance Frame: An interactive oval boundary changing colors based on quality metrics (Red: Pose mismatch, Blue: Poor lighting, Green: Perfect).</a:t>
            </a:r>
          </a:p>
          <a:p>
            <a:pPr>
              <a:spcAft>
                <a:spcPts val="8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• Explainable Verdicts: Integrates real-time live telemetry cards showing dynamic confidence ratings for each modal sensor (texture, physiology, challenges).</a:t>
            </a:r>
          </a:p>
          <a:p>
            <a:pPr>
              <a:spcAft>
                <a:spcPts val="800"/>
              </a:spcAft>
              <a:defRPr sz="1300">
                <a:solidFill>
                  <a:srgbClr val="F0F0F0"/>
                </a:solidFill>
                <a:latin typeface="Arial"/>
              </a:defRPr>
            </a:pPr>
            <a:r>
              <a:t>• Pre-verification Gateway: Users are trained with tips and guidelines prior to starting high-stakes interview challenge verification sessions.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C202A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00D2FF"/>
                </a:solidFill>
                <a:latin typeface="Arial"/>
              </a:defRPr>
            </a:pPr>
            <a:r>
              <a:t>🎥 Interactive Live Demonstration</a:t>
            </a:r>
          </a:p>
          <a:p>
            <a:pPr>
              <a:spcBef>
                <a:spcPts val="500"/>
              </a:spcBef>
              <a:defRPr sz="1200">
                <a:solidFill>
                  <a:srgbClr val="F0F0F0"/>
                </a:solidFill>
                <a:latin typeface="Arial"/>
              </a:defRPr>
            </a:pPr>
            <a:r>
              <a:t>Our validation pipeline streams video frames from a Flutter client webcam to our FastAPI server over WebSockets:</a:t>
            </a:r>
            <a:br/>
            <a:r>
              <a:t>1. Start verification: A target challenge is selected randomly (e.g., blink task).</a:t>
            </a:r>
            <a:br/>
            <a:r>
              <a:t>2. Intercept Attack: We simulate printed photo attacks (rejected by rPPG and Texture). </a:t>
            </a:r>
            <a:br/>
            <a:r>
              <a:t>3. Intercept Replay: We play digital replay loop (rejected by Active Challenge &amp; Temporal validation).</a:t>
            </a:r>
            <a:br/>
            <a:r>
              <a:t>4. Intercept Swap: A second user swaps with candidate mid-session (rejected by scale-invariant landmarks check).</a:t>
            </a:r>
            <a:br/>
            <a:br/>
            <a:r>
              <a:t>The complete system workflow and testing suites are fully verified in the live code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