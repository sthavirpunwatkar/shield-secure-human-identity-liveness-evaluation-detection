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ield_cover_visual_17831851709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  <a:p>
            <a:pPr>
              <a:spcBef>
                <a:spcPts val="600"/>
              </a:spcBef>
              <a:defRPr sz="1500" b="1">
                <a:solidFill>
                  <a:srgbClr val="8A2BE2"/>
                </a:solidFill>
                <a:latin typeface="Arial"/>
              </a:defRPr>
            </a:pPr>
            <a:r>
              <a:t>Multimodal Real-Time Biometric Liveness &amp; Identity Verification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C8C8DC"/>
                </a:solidFill>
                <a:latin typeface="Arial"/>
              </a:defRPr>
            </a:pPr>
            <a:r>
              <a:t>Project Partners: Sthavir Sunil Punwatkar, [Project Partner 2]</a:t>
            </a:r>
          </a:p>
          <a:p>
            <a:pPr>
              <a:spcBef>
                <a:spcPts val="300"/>
              </a:spcBef>
              <a:defRPr sz="1150" b="1">
                <a:solidFill>
                  <a:srgbClr val="C8C8DC"/>
                </a:solidFill>
                <a:latin typeface="Arial"/>
              </a:defRPr>
            </a:pPr>
            <a:r>
              <a:t>Project Guide: [Project Guide Name]</a:t>
            </a:r>
          </a:p>
          <a:p>
            <a:pPr>
              <a:spcBef>
                <a:spcPts val="500"/>
              </a:spcBef>
              <a:defRPr sz="1150">
                <a:solidFill>
                  <a:srgbClr val="827896"/>
                </a:solidFill>
                <a:latin typeface="Arial"/>
              </a:defRPr>
            </a:pPr>
            <a:r>
              <a:t>CDAC Project Review  |  Domain: Biometrics &amp;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17520"/>
            <a:ext cx="5029200" cy="329184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500" b="1">
                <a:solidFill>
                  <a:srgbClr val="8A2BE2"/>
                </a:solidFill>
                <a:latin typeface="Arial"/>
              </a:defRPr>
            </a:pPr>
            <a:r>
              <a:t>PROBLEM FORMULATION</a:t>
            </a:r>
          </a:p>
          <a:p>
            <a:pPr>
              <a:spcBef>
                <a:spcPts val="600"/>
              </a:spcBef>
              <a:defRPr sz="1100">
                <a:solidFill>
                  <a:srgbClr val="C8C8DC"/>
                </a:solidFill>
                <a:latin typeface="Arial"/>
              </a:defRPr>
            </a:pPr>
            <a:r>
              <a:t>Remote biometric systems face vulnerabilities to spoofing:</a:t>
            </a:r>
            <a:br/>
            <a:r>
              <a:t>• Presentation Attacks (PA): Static photo prints, video loop replays, and 3D masks deceive traditional facial recognition.</a:t>
            </a:r>
            <a:br/>
            <a:r>
              <a:t>• Identity Swapping: User swaps mid-session (tag-team cheating) during active testing or authentication.</a:t>
            </a:r>
            <a:br/>
            <a:r>
              <a:t>• Deployment Limits: Existing anti-spoofing methods require specialized depth hardware, rendering wide scale deployments impractical.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8A2BE2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A2BE2"/>
                </a:solidFill>
                <a:latin typeface="Arial"/>
              </a:defRPr>
            </a:pPr>
            <a:r>
              <a:t>🎯 Core Objectives</a:t>
            </a:r>
          </a:p>
          <a:p>
            <a:pPr>
              <a:spcAft>
                <a:spcPts val="12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Develop an end-to-end, real-time liveness pipeline processing multi-layered verification streams in &lt;100ms.</a:t>
            </a:r>
          </a:p>
          <a:p>
            <a:pPr>
              <a:spcAft>
                <a:spcPts val="12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Implement non-intrusive biological checks by extracting blood volume pulse (BVP) from standard RGB video feeds (rPPG).</a:t>
            </a:r>
          </a:p>
          <a:p>
            <a:pPr>
              <a:spcAft>
                <a:spcPts val="12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Introduce randomized active challenge-response tasks combined with frame validation to counter pre-recorded replays.</a:t>
            </a:r>
          </a:p>
          <a:p>
            <a:pPr>
              <a:spcAft>
                <a:spcPts val="12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Construct an explainable multi-modal decision fusion engine to facilitate detailed audit trails.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⚙️ Engineering Targets &amp; KPIs</a:t>
            </a:r>
          </a:p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▪️ ISO/IEC 30107-3 Standard Adherence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Deliver an ACER (Average Classification Error Rate) under 1.5% to verify enterprise-level security.</a:t>
            </a:r>
          </a:p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▪️ Edge-Deployable Performance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Optimize inference workloads to support execution in under 100ms on consumer-grade CPUs.</a:t>
            </a:r>
          </a:p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▪️ Zero-Dependency RGB Deployment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Perform biological, texture, and active checks using simple 2D webcams without dedicated sensors.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8A2BE2"/>
                </a:solidFill>
                <a:latin typeface="Arial"/>
              </a:defRPr>
            </a:pPr>
            <a:r>
              <a:t>System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A2BE2"/>
                </a:solidFill>
                <a:latin typeface="Arial"/>
              </a:defRPr>
            </a:pPr>
            <a:r>
              <a:t>⚙️ Modular Data Pipeline</a:t>
            </a:r>
          </a:p>
          <a:p>
            <a:pPr>
              <a:spcAft>
                <a:spcPts val="10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• A modular layer architecture styled after high-performance neural blocks (like Transformer stacks).</a:t>
            </a:r>
          </a:p>
          <a:p>
            <a:pPr>
              <a:spcAft>
                <a:spcPts val="10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• Frames pass sequentially through detection, validation, and quality gates before running parallel inferences.</a:t>
            </a:r>
          </a:p>
          <a:p>
            <a:pPr>
              <a:spcAft>
                <a:spcPts val="10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• Texture (Spatial), Physiology (Biological BVP), and Challenge (Temporal Actions) operate as distinct pipelines.</a:t>
            </a:r>
          </a:p>
          <a:p>
            <a:pPr>
              <a:spcAft>
                <a:spcPts val="1000"/>
              </a:spcAft>
              <a:defRPr sz="1200">
                <a:solidFill>
                  <a:srgbClr val="C8C8DC"/>
                </a:solidFill>
                <a:latin typeface="Arial"/>
              </a:defRPr>
            </a:pPr>
            <a:r>
              <a:t>• Decision Fusion acts as the linear convergence layer to calculate output probabilities.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005840"/>
            <a:ext cx="2011680" cy="365760"/>
          </a:xfrm>
          <a:prstGeom prst="roundRect">
            <a:avLst/>
          </a:prstGeom>
          <a:solidFill>
            <a:srgbClr val="F8BBD0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Video Frames (BGR stream)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1371600"/>
            <a:ext cx="0" cy="182880"/>
          </a:xfrm>
          <a:prstGeom prst="line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766560" y="1554480"/>
            <a:ext cx="2011680" cy="36576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YOLOv8-Face 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0" y="1920240"/>
            <a:ext cx="0" cy="182880"/>
          </a:xfrm>
          <a:prstGeom prst="line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66560" y="2103120"/>
            <a:ext cx="2011680" cy="36576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Signal Quality Filter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51760"/>
            <a:ext cx="6217920" cy="1645920"/>
          </a:xfrm>
          <a:prstGeom prst="roundRect">
            <a:avLst/>
          </a:prstGeom>
          <a:noFill/>
          <a:ln w="1905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3200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A2BE2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834640"/>
            <a:ext cx="1645920" cy="10972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Passive Texture 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834640"/>
            <a:ext cx="1645920" cy="10972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Physiological rPPG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834640"/>
            <a:ext cx="1645920" cy="10972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Active Challenges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468880"/>
            <a:ext cx="0" cy="365760"/>
          </a:xfrm>
          <a:prstGeom prst="line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60720" y="2468880"/>
            <a:ext cx="2011680" cy="365760"/>
          </a:xfrm>
          <a:prstGeom prst="bentConnector3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2468880"/>
            <a:ext cx="2011680" cy="365760"/>
          </a:xfrm>
          <a:prstGeom prst="bentConnector3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4480560"/>
            <a:ext cx="2011680" cy="36576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Weighted Decision Fusion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3931920"/>
            <a:ext cx="2011680" cy="548640"/>
          </a:xfrm>
          <a:prstGeom prst="bentConnector3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3931920"/>
            <a:ext cx="0" cy="548640"/>
          </a:xfrm>
          <a:prstGeom prst="line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772400" y="3931920"/>
            <a:ext cx="2011680" cy="548640"/>
          </a:xfrm>
          <a:prstGeom prst="bentConnector3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5029200"/>
            <a:ext cx="2011680" cy="365760"/>
          </a:xfrm>
          <a:prstGeom prst="roundRect">
            <a:avLst/>
          </a:prstGeom>
          <a:solidFill>
            <a:srgbClr val="E1BEE7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Linear Decision Threshold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5394960"/>
            <a:ext cx="0" cy="182880"/>
          </a:xfrm>
          <a:prstGeom prst="line">
            <a:avLst/>
          </a:prstGeom>
          <a:ln w="15240">
            <a:solidFill>
              <a:srgbClr val="3C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66560" y="5577840"/>
            <a:ext cx="2011680" cy="36576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282828"/>
                </a:solidFill>
                <a:latin typeface="Arial"/>
              </a:defRPr>
            </a:pPr>
            <a:r>
              <a:t>Output Verdict (Live/Spoof)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8A2BE2"/>
                </a:solidFill>
                <a:latin typeface="Arial"/>
              </a:defRPr>
            </a:pPr>
            <a:r>
              <a:t>Multimodal Verification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246888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Passive Texture</a:t>
            </a:r>
          </a:p>
          <a:p>
            <a:pPr>
              <a:spcAft>
                <a:spcPts val="1200"/>
              </a:spcAft>
              <a:defRPr sz="900" b="1">
                <a:solidFill>
                  <a:srgbClr val="8A2BE2"/>
                </a:solidFill>
                <a:latin typeface="Arial"/>
              </a:defRPr>
            </a:pPr>
            <a:r>
              <a:t>SPATIAL TEXTURES</a:t>
            </a:r>
          </a:p>
          <a:p>
            <a:pPr>
              <a:spcBef>
                <a:spcPts val="500"/>
              </a:spcBef>
              <a:defRPr sz="1150">
                <a:solidFill>
                  <a:srgbClr val="C8C8DC"/>
                </a:solidFill>
                <a:latin typeface="Arial"/>
              </a:defRPr>
            </a:pPr>
            <a:r>
              <a:t>MiniFASNet CNN classification parsing high-frequency surface patterns to detect print paper/screen structures.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Physiological rPPG</a:t>
            </a:r>
          </a:p>
          <a:p>
            <a:pPr>
              <a:spcAft>
                <a:spcPts val="1200"/>
              </a:spcAft>
              <a:defRPr sz="900" b="1">
                <a:solidFill>
                  <a:srgbClr val="8A2BE2"/>
                </a:solidFill>
                <a:latin typeface="Arial"/>
              </a:defRPr>
            </a:pPr>
            <a:r>
              <a:t>HEART RATE PULSE</a:t>
            </a:r>
          </a:p>
          <a:p>
            <a:pPr>
              <a:spcBef>
                <a:spcPts val="500"/>
              </a:spcBef>
              <a:defRPr sz="1150">
                <a:solidFill>
                  <a:srgbClr val="C8C8DC"/>
                </a:solidFill>
                <a:latin typeface="Arial"/>
              </a:defRPr>
            </a:pPr>
            <a:r>
              <a:t>3D spatio-temporal CNN extracting cardiac micro-signals from skin color shifts to verify living tissue.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246888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Active Challenges</a:t>
            </a:r>
          </a:p>
          <a:p>
            <a:pPr>
              <a:spcAft>
                <a:spcPts val="1200"/>
              </a:spcAft>
              <a:defRPr sz="900" b="1">
                <a:solidFill>
                  <a:srgbClr val="8A2BE2"/>
                </a:solidFill>
                <a:latin typeface="Arial"/>
              </a:defRPr>
            </a:pPr>
            <a:r>
              <a:t>CHALLENGE ACTIONS</a:t>
            </a:r>
          </a:p>
          <a:p>
            <a:pPr>
              <a:spcBef>
                <a:spcPts val="500"/>
              </a:spcBef>
              <a:defRPr sz="1150">
                <a:solidFill>
                  <a:srgbClr val="C8C8DC"/>
                </a:solidFill>
                <a:latin typeface="Arial"/>
              </a:defRPr>
            </a:pPr>
            <a:r>
              <a:t>Randomized directives (Blink, Turn, Smile) validated dynamically to establish immediate user cooperation.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645920"/>
            <a:ext cx="246888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Temporal Validator</a:t>
            </a:r>
          </a:p>
          <a:p>
            <a:pPr>
              <a:spcAft>
                <a:spcPts val="1200"/>
              </a:spcAft>
              <a:defRPr sz="900" b="1">
                <a:solidFill>
                  <a:srgbClr val="8A2BE2"/>
                </a:solidFill>
                <a:latin typeface="Arial"/>
              </a:defRPr>
            </a:pPr>
            <a:r>
              <a:t>TEMPORAL CUTS</a:t>
            </a:r>
          </a:p>
          <a:p>
            <a:pPr>
              <a:spcBef>
                <a:spcPts val="500"/>
              </a:spcBef>
              <a:defRPr sz="1150">
                <a:solidFill>
                  <a:srgbClr val="C8C8DC"/>
                </a:solidFill>
                <a:latin typeface="Arial"/>
              </a:defRPr>
            </a:pPr>
            <a:r>
              <a:t>Time-series integrity checking to trace jump-cuts and confirm time sync between challenge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emetry_visual_17831851987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512064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Results &amp; Evaluation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887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A2BE2"/>
                          </a:solidFill>
                          <a:latin typeface="Arial"/>
                        </a:defRPr>
                      </a:pPr>
                      <a:r>
                        <a:t>Metric Parameter</a:t>
                      </a:r>
                    </a:p>
                  </a:txBody>
                  <a:tcPr>
                    <a:solidFill>
                      <a:srgbClr val="18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A2BE2"/>
                          </a:solidFill>
                          <a:latin typeface="Arial"/>
                        </a:defRPr>
                      </a:pPr>
                      <a:r>
                        <a:t>SHIELD Score</a:t>
                      </a:r>
                    </a:p>
                  </a:txBody>
                  <a:tcPr>
                    <a:solidFill>
                      <a:srgbClr val="1816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8C8DC"/>
                          </a:solidFill>
                          <a:latin typeface="Arial"/>
                        </a:defRPr>
                      </a:pPr>
                      <a:r>
                        <a:t>APCER (Attack Error Rate)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8C8DC"/>
                          </a:solidFill>
                          <a:latin typeface="Arial"/>
                        </a:defRPr>
                      </a:pPr>
                      <a:r>
                        <a:t>BPCER (Bona Fide Error Rate)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8C8DC"/>
                          </a:solidFill>
                          <a:latin typeface="Arial"/>
                        </a:defRPr>
                      </a:pPr>
                      <a:r>
                        <a:t>ACER (Average Error Rate)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8C8DC"/>
                          </a:solidFill>
                          <a:latin typeface="Arial"/>
                        </a:defRPr>
                      </a:pPr>
                      <a:r>
                        <a:t>End-to-End Inference Latency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85 ms</a:t>
                      </a:r>
                    </a:p>
                  </a:txBody>
                  <a:tcPr>
                    <a:solidFill>
                      <a:srgbClr val="0A0A1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38328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8A2BE2"/>
                </a:solidFill>
                <a:latin typeface="Arial"/>
              </a:defRPr>
            </a:pPr>
            <a:r>
              <a:t>📊 ISO/IEC 30107-3 Standard Metrics</a:t>
            </a:r>
          </a:p>
          <a:p>
            <a:pPr>
              <a:spcAft>
                <a:spcPts val="400"/>
              </a:spcAft>
              <a:defRPr sz="1050">
                <a:solidFill>
                  <a:srgbClr val="C8C8DC"/>
                </a:solidFill>
                <a:latin typeface="Arial"/>
              </a:defRPr>
            </a:pPr>
            <a:r>
              <a:t>• APCER: Attack Presentation Classification Error Rate. Measures the % of spoof attacks incorrectly classified as live.</a:t>
            </a:r>
          </a:p>
          <a:p>
            <a:pPr>
              <a:spcAft>
                <a:spcPts val="400"/>
              </a:spcAft>
              <a:defRPr sz="1050">
                <a:solidFill>
                  <a:srgbClr val="C8C8DC"/>
                </a:solidFill>
                <a:latin typeface="Arial"/>
              </a:defRPr>
            </a:pPr>
            <a:r>
              <a:t>• BPCER: Bona Fide Presentation Classification Error Rate. Measures the % of genuine live users incorrectly flagged as spoofs.</a:t>
            </a:r>
          </a:p>
          <a:p>
            <a:pPr>
              <a:spcAft>
                <a:spcPts val="400"/>
              </a:spcAft>
              <a:defRPr sz="1050">
                <a:solidFill>
                  <a:srgbClr val="C8C8DC"/>
                </a:solidFill>
                <a:latin typeface="Arial"/>
              </a:defRPr>
            </a:pPr>
            <a:r>
              <a:t>• ACER: Average Classification Error Rate. Calculated as the average of APCER and BPCER: ACER = (APCER + BPCER) / 2.</a:t>
            </a:r>
          </a:p>
          <a:p>
            <a:pPr>
              <a:spcAft>
                <a:spcPts val="400"/>
              </a:spcAft>
              <a:defRPr sz="1050">
                <a:solidFill>
                  <a:srgbClr val="C8C8DC"/>
                </a:solidFill>
                <a:latin typeface="Arial"/>
              </a:defRPr>
            </a:pPr>
            <a:r>
              <a:t>• Empirical Calibration: System weights tuned via 1,771 test combinations under min_weight=0.10 constraint to achieve 1.0% ACER.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cial_mesh_visual_17831851855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512064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Novelty &amp; Custom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1. Real-Time Scale-Invariant Identity Consistency Check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  <a:latin typeface="Arial"/>
              </a:defRPr>
            </a:pPr>
            <a:r>
              <a:t>Defeats mid-session candidate swapping (tag-team fraud):</a:t>
            </a:r>
            <a:br/>
            <a:r>
              <a:t>• Computes scale-invariant 4D geometric signature ratios (nose, eyes, chin, lip corners) using MediaPipe FaceMesh landmarks.</a:t>
            </a:r>
            <a:br/>
            <a:r>
              <a:t>• Signature distance is verified frame-by-frame. Websocket is killed immediately if signature drift exceeds threshold (&gt;0.20).</a:t>
            </a:r>
          </a:p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2. JPEG Compression Defenses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  <a:latin typeface="Arial"/>
              </a:defRPr>
            </a:pPr>
            <a:r>
              <a:t>Enhances resilience against adversarial spatial noise attacks:</a:t>
            </a:r>
            <a:br/>
            <a:r>
              <a:t>• Integrates compression filters into the face crop step to cancel out artificial noise patterns generated by digital camera overlays.</a:t>
            </a:r>
          </a:p>
          <a:p>
            <a:pPr>
              <a:spcBef>
                <a:spcPts val="800"/>
              </a:spcBef>
              <a:defRPr sz="1400" b="1">
                <a:solidFill>
                  <a:srgbClr val="8A2BE2"/>
                </a:solidFill>
                <a:latin typeface="Arial"/>
              </a:defRPr>
            </a:pPr>
            <a:r>
              <a:t>3. Systematic Grid Search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  <a:latin typeface="Arial"/>
              </a:defRPr>
            </a:pPr>
            <a:r>
              <a:t>• Evaluated 1,771 separate sensor weight parameter combinations mathematically to eliminate sub-model silence.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8A2BE2"/>
                </a:solidFill>
                <a:latin typeface="Arial"/>
              </a:defRPr>
            </a:pPr>
            <a:r>
              <a:t>Interface Design &amp; Live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📱 Interactive Flutter Telemetry Dashboard</a:t>
            </a:r>
          </a:p>
          <a:p>
            <a:pPr>
              <a:spcAft>
                <a:spcPts val="8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Quality Telemetry Guide: Interactive oval frame changing colors dynamically based on real-time quality parameters (Blur, Exposure, Pose).</a:t>
            </a:r>
          </a:p>
          <a:p>
            <a:pPr>
              <a:spcAft>
                <a:spcPts val="8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Explainable Biometrics: Displays clear confidence breakdowns for texture, biological rPPG, and active challenge scores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C8C8DC"/>
                </a:solidFill>
                <a:latin typeface="Arial"/>
              </a:defRPr>
            </a:pPr>
            <a:r>
              <a:t>• Secure Ingestion Gateway: Informs user of capture instructions prior to starting high-stakes verification 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81622"/>
          </a:solidFill>
          <a:ln w="1270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8A2BE2"/>
                </a:solidFill>
                <a:latin typeface="Arial"/>
              </a:defRPr>
            </a:pPr>
            <a:r>
              <a:t>🎥 Live Demonstration Protocol</a:t>
            </a:r>
          </a:p>
          <a:p>
            <a:pPr>
              <a:spcBef>
                <a:spcPts val="500"/>
              </a:spcBef>
              <a:defRPr sz="1200">
                <a:solidFill>
                  <a:srgbClr val="C8C8DC"/>
                </a:solidFill>
                <a:latin typeface="Arial"/>
              </a:defRPr>
            </a:pPr>
            <a:r>
              <a:t>Websocket-based real-time capture and verification pipeline:</a:t>
            </a:r>
            <a:br/>
            <a:r>
              <a:t>1. Active Verification: Core session starts, requesting random user movements.</a:t>
            </a:r>
            <a:br/>
            <a:r>
              <a:t>2. Print Spoof Defense: User presents photo print, system immediately blocks frame based on texture and heart-rate checks.</a:t>
            </a:r>
            <a:br/>
            <a:r>
              <a:t>3. Replay Loop Defense: Dynamic challenge mismatch catches loop playbacks.</a:t>
            </a:r>
            <a:br/>
            <a:r>
              <a:t>4. Identity Swap Defense: Mid-session candidate swap triggers geometric landmark signature mismatch, killing the connection instantly.</a:t>
            </a:r>
            <a:br/>
            <a:br/>
            <a:r>
              <a:t>Execution logs and test coverage verify the robust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