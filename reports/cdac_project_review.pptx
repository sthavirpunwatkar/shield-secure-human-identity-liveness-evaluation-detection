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14400"/>
            <a:ext cx="108173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D2FF"/>
                </a:solidFill>
                <a:latin typeface="Arial"/>
              </a:defRPr>
            </a:pPr>
            <a:r>
              <a:t>SHIELD: Secure Human Identity &amp; Liveness Evaluation Detection</a:t>
            </a:r>
          </a:p>
          <a:p>
            <a:pPr>
              <a:spcBef>
                <a:spcPts val="1000"/>
              </a:spcBef>
              <a:defRPr sz="2000">
                <a:solidFill>
                  <a:srgbClr val="00FFAA"/>
                </a:solidFill>
                <a:latin typeface="Arial"/>
              </a:defRPr>
            </a:pPr>
            <a:r>
              <a:t>Multimodal Real-Time Verification &amp; Spoof Prevention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6032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6A0AF"/>
                </a:solidFill>
                <a:latin typeface="Arial"/>
              </a:defRPr>
            </a:pPr>
            <a:r>
              <a:t>CDAC Project Review  |  Domain: Computer Vision, Biometrics &amp; Anti-Spoofing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474720"/>
            <a:ext cx="10817352" cy="2560320"/>
          </a:xfrm>
          <a:prstGeom prst="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800" b="1">
                <a:solidFill>
                  <a:srgbClr val="00FFAA"/>
                </a:solidFill>
                <a:latin typeface="Arial"/>
              </a:defRPr>
            </a:pPr>
            <a:r>
              <a:t>PROBLEM STATEMENT</a:t>
            </a:r>
          </a:p>
          <a:p>
            <a:pPr>
              <a:spcBef>
                <a:spcPts val="1000"/>
              </a:spcBef>
              <a:defRPr sz="1400">
                <a:solidFill>
                  <a:srgbClr val="F0F0F0"/>
                </a:solidFill>
                <a:latin typeface="Arial"/>
              </a:defRPr>
            </a:pPr>
            <a:r>
              <a:t>Identity fraud and spoofing attacks have compromised remote authentication services (automated attendance and virtual interviews):</a:t>
            </a:r>
            <a:br/>
            <a:r>
              <a:t>• Presentation Attacks (PA): High-definition printed photos, screens playing recorded loops, and 3D silicone mask replays bypass standard biometrics.</a:t>
            </a:r>
            <a:br/>
            <a:r>
              <a:t>• Identity Swap Attacks: Candidates swaps mid-session (tag-team attacks) during exams/interviews.</a:t>
            </a:r>
            <a:br/>
            <a:r>
              <a:t>• Hardware Constraints: Traditional solutions require specialized, expensive 3D depth cameras, limiting widespread deployment.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FFAA"/>
                </a:solidFill>
                <a:latin typeface="Arial"/>
              </a:defRPr>
            </a:pPr>
            <a:r>
              <a:t>🎯 Core Objectives</a:t>
            </a:r>
          </a:p>
          <a:p>
            <a:pPr>
              <a:spcAft>
                <a:spcPts val="12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• Develop an end-to-end, ultra-low latency (&lt;100ms) multi-layered pipeline for biometric verification.</a:t>
            </a:r>
          </a:p>
          <a:p>
            <a:pPr>
              <a:spcAft>
                <a:spcPts val="12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• Implement non-intrusive biological checks (physiological heart-rate validation via rPPG) without dedicated sensors.</a:t>
            </a:r>
          </a:p>
          <a:p>
            <a:pPr>
              <a:spcAft>
                <a:spcPts val="12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• Construct interactive active challenge-response tasks preventing pre-recorded synthetic deepfakes.</a:t>
            </a:r>
          </a:p>
          <a:p>
            <a:pPr>
              <a:spcAft>
                <a:spcPts val="12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• Establish an explainable fusion architecture to provide forensic audit capability for each verification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D2FF"/>
                </a:solidFill>
                <a:latin typeface="Arial"/>
              </a:defRPr>
            </a:pPr>
            <a:r>
              <a:t>⚡ Engineering Target KPIs</a:t>
            </a:r>
          </a:p>
          <a:p>
            <a:pPr>
              <a:spcBef>
                <a:spcPts val="1000"/>
              </a:spcBef>
              <a:defRPr sz="1600" b="1">
                <a:solidFill>
                  <a:srgbClr val="F0F0F0"/>
                </a:solidFill>
                <a:latin typeface="Arial"/>
              </a:defRPr>
            </a:pPr>
            <a:r>
              <a:t>🔹 ISO/IEC 30107-3 Standard Compliance</a:t>
            </a:r>
          </a:p>
          <a:p>
            <a:pPr>
              <a:spcAft>
                <a:spcPts val="800"/>
              </a:spcAft>
              <a:defRPr sz="1300">
                <a:solidFill>
                  <a:srgbClr val="96A0AF"/>
                </a:solidFill>
                <a:latin typeface="Arial"/>
              </a:defRPr>
            </a:pPr>
            <a:r>
              <a:t>Targeting ACER (Average Classification Error Rate) below 1.5% to beat enterprise systems.</a:t>
            </a:r>
          </a:p>
          <a:p>
            <a:pPr>
              <a:spcBef>
                <a:spcPts val="1000"/>
              </a:spcBef>
              <a:defRPr sz="1600" b="1">
                <a:solidFill>
                  <a:srgbClr val="F0F0F0"/>
                </a:solidFill>
                <a:latin typeface="Arial"/>
              </a:defRPr>
            </a:pPr>
            <a:r>
              <a:t>🔹 Edge-Compatible Latency Profiles</a:t>
            </a:r>
          </a:p>
          <a:p>
            <a:pPr>
              <a:spcAft>
                <a:spcPts val="800"/>
              </a:spcAft>
              <a:defRPr sz="1300">
                <a:solidFill>
                  <a:srgbClr val="96A0AF"/>
                </a:solidFill>
                <a:latin typeface="Arial"/>
              </a:defRPr>
            </a:pPr>
            <a:r>
              <a:t>Ensure end-to-end processing (detection, crops, fusion, classification) runs in less than 100ms on CPU.</a:t>
            </a:r>
          </a:p>
          <a:p>
            <a:pPr>
              <a:spcBef>
                <a:spcPts val="1000"/>
              </a:spcBef>
              <a:defRPr sz="1600" b="1">
                <a:solidFill>
                  <a:srgbClr val="F0F0F0"/>
                </a:solidFill>
                <a:latin typeface="Arial"/>
              </a:defRPr>
            </a:pPr>
            <a:r>
              <a:t>🔹 Zero-Dependency Webcam Deployment</a:t>
            </a:r>
          </a:p>
          <a:p>
            <a:pPr>
              <a:spcAft>
                <a:spcPts val="800"/>
              </a:spcAft>
              <a:defRPr sz="1300">
                <a:solidFill>
                  <a:srgbClr val="96A0AF"/>
                </a:solidFill>
                <a:latin typeface="Arial"/>
              </a:defRPr>
            </a:pPr>
            <a:r>
              <a:t>Operate smoothly over normal RGB standard 2D webcams, eliminating hardware friction.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System Architecture &amp;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Arial"/>
              </a:defRPr>
            </a:pPr>
            <a:r>
              <a:t>Camera Capture  ➡️  YOLOv8 Face Detection  ➡️  Signal Quality Gate  ➡️  Multimodal Inference  ➡️  Decision Fusion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86000"/>
            <a:ext cx="2468880" cy="384048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600" b="1">
                <a:solidFill>
                  <a:srgbClr val="00FFAA"/>
                </a:solidFill>
                <a:latin typeface="Arial"/>
              </a:defRPr>
            </a:pPr>
            <a:r>
              <a:t>1. Passive Texture</a:t>
            </a:r>
          </a:p>
          <a:p>
            <a:pPr>
              <a:spcAft>
                <a:spcPts val="1000"/>
              </a:spcAft>
              <a:defRPr sz="1000" b="1">
                <a:solidFill>
                  <a:srgbClr val="96A0AF"/>
                </a:solidFill>
                <a:latin typeface="Arial"/>
              </a:defRPr>
            </a:pPr>
            <a:r>
              <a:t>CNN INFERENCE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MiniFASNet CNN analyzing high-frequency texture cues to distinguish human skin from printed papers or screen pixels.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286000"/>
            <a:ext cx="2468880" cy="384048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600" b="1">
                <a:solidFill>
                  <a:srgbClr val="00FFAA"/>
                </a:solidFill>
                <a:latin typeface="Arial"/>
              </a:defRPr>
            </a:pPr>
            <a:r>
              <a:t>2. Physiological rPPG</a:t>
            </a:r>
          </a:p>
          <a:p>
            <a:pPr>
              <a:spcAft>
                <a:spcPts val="1000"/>
              </a:spcAft>
              <a:defRPr sz="1000" b="1">
                <a:solidFill>
                  <a:srgbClr val="96A0AF"/>
                </a:solidFill>
                <a:latin typeface="Arial"/>
              </a:defRPr>
            </a:pPr>
            <a:r>
              <a:t>BIOLOGICAL PULSE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3D Spatio-Temporal CNN extracting blood volume pulse (BVP) from blood flow micro-fluctuations in skin.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286000"/>
            <a:ext cx="2468880" cy="384048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600" b="1">
                <a:solidFill>
                  <a:srgbClr val="00FFAA"/>
                </a:solidFill>
                <a:latin typeface="Arial"/>
              </a:defRPr>
            </a:pPr>
            <a:r>
              <a:t>3. Active Challenges</a:t>
            </a:r>
          </a:p>
          <a:p>
            <a:pPr>
              <a:spcAft>
                <a:spcPts val="1000"/>
              </a:spcAft>
              <a:defRPr sz="1000" b="1">
                <a:solidFill>
                  <a:srgbClr val="96A0AF"/>
                </a:solidFill>
                <a:latin typeface="Arial"/>
              </a:defRPr>
            </a:pPr>
            <a:r>
              <a:t>CHALLENGE-RESPONSE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Randomized directives (Smile, Blink, Turn) generated by ChallengeEngine to ensure presence.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2286000"/>
            <a:ext cx="2468880" cy="384048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600" b="1">
                <a:solidFill>
                  <a:srgbClr val="00FFAA"/>
                </a:solidFill>
                <a:latin typeface="Arial"/>
              </a:defRPr>
            </a:pPr>
            <a:r>
              <a:t>4. Temporal Audit</a:t>
            </a:r>
          </a:p>
          <a:p>
            <a:pPr>
              <a:spcAft>
                <a:spcPts val="1000"/>
              </a:spcAft>
              <a:defRPr sz="1000" b="1">
                <a:solidFill>
                  <a:srgbClr val="96A0AF"/>
                </a:solidFill>
                <a:latin typeface="Arial"/>
              </a:defRPr>
            </a:pPr>
            <a:r>
              <a:t>JUMP-CUT CHECK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TemporalValidator matching challenge execution times and checking for jump-cut manipulations.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Results &amp; Evaluation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45920"/>
          <a:ext cx="6400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246888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SHIELD Score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ISO 30107-3 Standard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APCER (Attack Error)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FFAA"/>
                          </a:solidFill>
                          <a:latin typeface="Arial"/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&lt; 5.0% (Excellent protection)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BPCER (Bona Fide Error)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FFAA"/>
                          </a:solidFill>
                          <a:latin typeface="Arial"/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&lt; 3.0% (Minimal false rejects)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ACER (Average Error)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FFAA"/>
                          </a:solidFill>
                          <a:latin typeface="Arial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&lt; 4.0% (Superior overall accuracy)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Latency (End-to-End)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FFAA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&lt; 150 ms (Ultra real-time capability)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40664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D2FF"/>
                </a:solidFill>
                <a:latin typeface="Arial"/>
              </a:defRPr>
            </a:pPr>
            <a:r>
              <a:t>📊 Dataset &amp; Evaluation Setup</a:t>
            </a:r>
          </a:p>
          <a:p>
            <a:pPr>
              <a:spcAft>
                <a:spcPts val="1200"/>
              </a:spcAft>
              <a:defRPr sz="1300">
                <a:solidFill>
                  <a:srgbClr val="F0F0F0"/>
                </a:solidFill>
                <a:latin typeface="Arial"/>
              </a:defRPr>
            </a:pPr>
            <a:r>
              <a:t>⚡ Tested on unified subsets of CASIA-FASD and CelebA-Spoof datasets, comprising over 10,000 frames representing high-definition prints, digital replays, and lighting shifts.</a:t>
            </a:r>
          </a:p>
          <a:p>
            <a:pPr>
              <a:spcAft>
                <a:spcPts val="1200"/>
              </a:spcAft>
              <a:defRPr sz="1300">
                <a:solidFill>
                  <a:srgbClr val="F0F0F0"/>
                </a:solidFill>
                <a:latin typeface="Arial"/>
              </a:defRPr>
            </a:pPr>
            <a:r>
              <a:t>⚡ Real-Time streaming evaluation measured sustained WebSockets frame processing rates above 30 FPS.</a:t>
            </a:r>
          </a:p>
          <a:p>
            <a:pPr>
              <a:spcAft>
                <a:spcPts val="1200"/>
              </a:spcAft>
              <a:defRPr sz="1300">
                <a:solidFill>
                  <a:srgbClr val="F0F0F0"/>
                </a:solidFill>
                <a:latin typeface="Arial"/>
              </a:defRPr>
            </a:pPr>
            <a:r>
              <a:t>⚡ Weighted Decision Fusion: Evaluated 1,771 weight combinations under a multi-modality constraint (min_weight=0.10) to discover the optimal engine weights: 10% rPPG, 10% Blink, 15% Antispoof, and 65% Challenge.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Novelty &amp; Custom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3383280" cy="4206240"/>
          </a:xfrm>
          <a:prstGeom prst="rect">
            <a:avLst/>
          </a:prstGeom>
          <a:solidFill>
            <a:srgbClr val="1C202A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1200"/>
              </a:spcAft>
              <a:defRPr sz="1500" b="1">
                <a:solidFill>
                  <a:srgbClr val="00D2FF"/>
                </a:solidFill>
                <a:latin typeface="Arial"/>
              </a:defRPr>
            </a:pPr>
            <a:r>
              <a:t>1. Real-Time Scale-Invariant Identity Consistency Check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Protects session integrity against mid-session user swaps (tag-team cheats):</a:t>
            </a:r>
            <a:br/>
            <a:r>
              <a:t>• Computes scale-invariant 4D signature ratios (nose, eyes, chin, lip corners) using MediaPipe landmark geometry.</a:t>
            </a:r>
            <a:br/>
            <a:r>
              <a:t>• Signature distance is verified frame-by-frame. Connection is killed and flagged if signature variation surpasses threshold (&gt;0.20).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34840" y="1645920"/>
            <a:ext cx="3383280" cy="4206240"/>
          </a:xfrm>
          <a:prstGeom prst="rect">
            <a:avLst/>
          </a:prstGeom>
          <a:solidFill>
            <a:srgbClr val="1C202A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1200"/>
              </a:spcAft>
              <a:defRPr sz="1500" b="1">
                <a:solidFill>
                  <a:srgbClr val="00D2FF"/>
                </a:solidFill>
                <a:latin typeface="Arial"/>
              </a:defRPr>
            </a:pPr>
            <a:r>
              <a:t>2. JPEG Compression Noise Defenses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Enhances classifier resilience against high-frequency adversarial texture attacks:</a:t>
            </a:r>
            <a:br/>
            <a:r>
              <a:t>• Implemented JPEG compression pre-processing directly into the face cropping stage.</a:t>
            </a:r>
            <a:br/>
            <a:r>
              <a:t>• Strategically filters out artificial spatial noise injected by digital mock spoofs or adversarial camera filters.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83880" y="1645920"/>
            <a:ext cx="3383280" cy="4206240"/>
          </a:xfrm>
          <a:prstGeom prst="rect">
            <a:avLst/>
          </a:prstGeom>
          <a:solidFill>
            <a:srgbClr val="1C202A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1200"/>
              </a:spcAft>
              <a:defRPr sz="1500" b="1">
                <a:solidFill>
                  <a:srgbClr val="00D2FF"/>
                </a:solidFill>
                <a:latin typeface="Arial"/>
              </a:defRPr>
            </a:pPr>
            <a:r>
              <a:t>3. Multi-Constraint Grid Search Weight Optimizer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Calibrates decision fusion mathematically instead of using manual trial-and-error heuristics:</a:t>
            </a:r>
            <a:br/>
            <a:r>
              <a:t>• Developed a rigorous weight tuning algorithm verifying 1,771 separate parameter models.</a:t>
            </a:r>
            <a:br/>
            <a:r>
              <a:t>• Enforces a 10% minimum contribution check per sensor to eliminate sub-model silence.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Interface Design &amp; Live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5120640" cy="411480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00FFAA"/>
                </a:solidFill>
                <a:latin typeface="Arial"/>
              </a:defRPr>
            </a:pPr>
            <a:r>
              <a:t>📱 Immersive Flutter Telemetry Panel</a:t>
            </a:r>
          </a:p>
          <a:p>
            <a:pPr>
              <a:spcAft>
                <a:spcPts val="800"/>
              </a:spcAft>
              <a:defRPr sz="1300">
                <a:solidFill>
                  <a:srgbClr val="F0F0F0"/>
                </a:solidFill>
                <a:latin typeface="Arial"/>
              </a:defRPr>
            </a:pPr>
            <a:r>
              <a:t>• Real-Time Guidance Frame: An interactive oval boundary changing colors based on quality metrics (Red: Pose mismatch, Blue: Poor lighting, Green: Perfect).</a:t>
            </a:r>
          </a:p>
          <a:p>
            <a:pPr>
              <a:spcAft>
                <a:spcPts val="800"/>
              </a:spcAft>
              <a:defRPr sz="1300">
                <a:solidFill>
                  <a:srgbClr val="F0F0F0"/>
                </a:solidFill>
                <a:latin typeface="Arial"/>
              </a:defRPr>
            </a:pPr>
            <a:r>
              <a:t>• Explainable Verdicts: Integrates real-time live telemetry cards showing dynamic confidence ratings for each modal sensor (texture, physiology, challenges).</a:t>
            </a:r>
          </a:p>
          <a:p>
            <a:pPr>
              <a:spcAft>
                <a:spcPts val="800"/>
              </a:spcAft>
              <a:defRPr sz="1300">
                <a:solidFill>
                  <a:srgbClr val="F0F0F0"/>
                </a:solidFill>
                <a:latin typeface="Arial"/>
              </a:defRPr>
            </a:pPr>
            <a:r>
              <a:t>• Pre-verification Gateway: Users are trained with tips and guidelines prior to starting high-stakes interview challenge verification sessions.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00D2FF"/>
                </a:solidFill>
                <a:latin typeface="Arial"/>
              </a:defRPr>
            </a:pPr>
            <a:r>
              <a:t>🎥 Interactive Live Demonstration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Our validation pipeline streams video frames from a Flutter client webcam to our FastAPI server over WebSockets:</a:t>
            </a:r>
            <a:br/>
            <a:r>
              <a:t>1. Start verification: A target challenge is selected randomly (e.g., blink task).</a:t>
            </a:r>
            <a:br/>
            <a:r>
              <a:t>2. Intercept Attack: We simulate printed photo attacks (rejected by rPPG and Texture sensors).</a:t>
            </a:r>
            <a:br/>
            <a:r>
              <a:t>3. Intercept Replay: We play digital replay loop (rejected by Active Challenge &amp; Temporal validation).</a:t>
            </a:r>
            <a:br/>
            <a:r>
              <a:t>4. Intercept Swap: A second user swaps with candidate mid-session (rejected by scale-invariant landmarks check).</a:t>
            </a:r>
            <a:br/>
            <a:br/>
            <a:r>
              <a:t>The complete system workflow and testing suites are fully verified in the live code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